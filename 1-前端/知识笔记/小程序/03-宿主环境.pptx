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9" r:id="rId3"/>
    <p:sldId id="292" r:id="rId4"/>
    <p:sldId id="317" r:id="rId5"/>
    <p:sldId id="296" r:id="rId6"/>
    <p:sldId id="321" r:id="rId7"/>
    <p:sldId id="297" r:id="rId8"/>
    <p:sldId id="299" r:id="rId9"/>
    <p:sldId id="324" r:id="rId10"/>
    <p:sldId id="329" r:id="rId11"/>
    <p:sldId id="330" r:id="rId12"/>
    <p:sldId id="332" r:id="rId13"/>
    <p:sldId id="336" r:id="rId14"/>
    <p:sldId id="335" r:id="rId15"/>
    <p:sldId id="338" r:id="rId16"/>
    <p:sldId id="326" r:id="rId17"/>
    <p:sldId id="339" r:id="rId18"/>
    <p:sldId id="356" r:id="rId19"/>
    <p:sldId id="357" r:id="rId20"/>
    <p:sldId id="343" r:id="rId21"/>
    <p:sldId id="344" r:id="rId22"/>
    <p:sldId id="346" r:id="rId23"/>
    <p:sldId id="350" r:id="rId24"/>
    <p:sldId id="358" r:id="rId25"/>
    <p:sldId id="316" r:id="rId26"/>
    <p:sldId id="35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一、首页" id="{35617BEE-A331-4298-8E40-D3507A08CC2F}">
          <p14:sldIdLst>
            <p14:sldId id="256"/>
          </p14:sldIdLst>
        </p14:section>
        <p14:section name="二、前置部分" id="{E51481FA-7153-4520-8AAE-7F7F74FB6327}">
          <p14:sldIdLst>
            <p14:sldId id="259"/>
            <p14:sldId id="292"/>
            <p14:sldId id="317"/>
          </p14:sldIdLst>
        </p14:section>
        <p14:section name="01-渲染层和逻辑层" id="{4C832947-2092-B242-8FF3-4D96B6007803}">
          <p14:sldIdLst>
            <p14:sldId id="296"/>
            <p14:sldId id="321"/>
          </p14:sldIdLst>
        </p14:section>
        <p14:section name="02-App" id="{D0694AD4-1618-4491-9BA9-29D73A7AE3DE}">
          <p14:sldIdLst>
            <p14:sldId id="297"/>
            <p14:sldId id="299"/>
            <p14:sldId id="324"/>
          </p14:sldIdLst>
        </p14:section>
        <p14:section name="03-页面" id="{B7D5C882-39DB-4992-B5C3-311FDDDCB968}">
          <p14:sldIdLst>
            <p14:sldId id="329"/>
            <p14:sldId id="330"/>
            <p14:sldId id="332"/>
            <p14:sldId id="336"/>
            <p14:sldId id="335"/>
            <p14:sldId id="338"/>
            <p14:sldId id="326"/>
          </p14:sldIdLst>
        </p14:section>
        <p14:section name="04-组件" id="{357C204F-F752-415B-8E54-616710359563}">
          <p14:sldIdLst>
            <p14:sldId id="339"/>
            <p14:sldId id="356"/>
            <p14:sldId id="357"/>
            <p14:sldId id="343"/>
            <p14:sldId id="344"/>
            <p14:sldId id="346"/>
            <p14:sldId id="350"/>
            <p14:sldId id="358"/>
          </p14:sldIdLst>
        </p14:section>
        <p14:section name="总结" id="{378FA1C4-70FB-4E13-BA6D-BA86308BDC03}">
          <p14:sldIdLst>
            <p14:sldId id="316"/>
          </p14:sldIdLst>
        </p14:section>
        <p14:section name="作业" id="{5C1677A9-B60B-4F55-A639-428357C0D1FE}">
          <p14:sldIdLst>
            <p14:sldId id="3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5E3"/>
    <a:srgbClr val="00B0F0"/>
    <a:srgbClr val="3FB1F1"/>
    <a:srgbClr val="009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03" autoAdjust="0"/>
    <p:restoredTop sz="96764" autoAdjust="0"/>
  </p:normalViewPr>
  <p:slideViewPr>
    <p:cSldViewPr snapToGrid="0">
      <p:cViewPr varScale="1">
        <p:scale>
          <a:sx n="120" d="100"/>
          <a:sy n="120" d="100"/>
        </p:scale>
        <p:origin x="12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2F9A9-6227-8A44-9772-286E30E69980}" type="datetimeFigureOut">
              <a:rPr kumimoji="1" lang="zh-CN" altLang="en-US" smtClean="0"/>
              <a:t>2021/1/30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0A84E-B558-7040-A1FC-87D304809F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308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857AE-34D6-4FD2-AC0E-0C1FE17EB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59037"/>
          </a:xfrm>
        </p:spPr>
        <p:txBody>
          <a:bodyPr anchor="b">
            <a:normAutofit/>
          </a:bodyPr>
          <a:lstStyle>
            <a:lvl1pPr marL="0" algn="ctr" defTabSz="457200" rtl="0" eaLnBrk="1" latinLnBrk="0" hangingPunct="1">
              <a:defRPr lang="zh-CN" altLang="en-US" sz="3600" b="1" kern="1200" dirty="0">
                <a:solidFill>
                  <a:srgbClr val="00B0F0"/>
                </a:solidFill>
                <a:latin typeface="Arial"/>
                <a:ea typeface="Microsoft YaHei"/>
                <a:cs typeface="Arial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D06EF9-DD59-4648-A167-72FA8E472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5780"/>
            <a:ext cx="9144000" cy="1282019"/>
          </a:xfrm>
        </p:spPr>
        <p:txBody>
          <a:bodyPr>
            <a:normAutofit/>
          </a:bodyPr>
          <a:lstStyle>
            <a:lvl1pPr marL="0" indent="0" algn="ctr" defTabSz="457200" rtl="0" eaLnBrk="1" latinLnBrk="0" hangingPunct="1">
              <a:buNone/>
              <a:defRPr lang="zh-CN" altLang="en-US" sz="14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2F226-4752-47AD-9F33-6BA58B45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D8100-DE57-4E16-863D-3519CFEB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D62D5C-377A-468E-ABCA-B4BF8B9B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0" name="直线连接符 2">
            <a:extLst>
              <a:ext uri="{FF2B5EF4-FFF2-40B4-BE49-F238E27FC236}">
                <a16:creationId xmlns:a16="http://schemas.microsoft.com/office/drawing/2014/main" id="{9931CC72-F3E0-4722-B70A-462086C6F39F}"/>
              </a:ext>
            </a:extLst>
          </p:cNvPr>
          <p:cNvCxnSpPr/>
          <p:nvPr/>
        </p:nvCxnSpPr>
        <p:spPr>
          <a:xfrm flipV="1">
            <a:off x="0" y="1835357"/>
            <a:ext cx="417285" cy="439964"/>
          </a:xfrm>
          <a:prstGeom prst="line">
            <a:avLst/>
          </a:prstGeom>
          <a:noFill/>
          <a:ln w="25400" cap="flat" cmpd="sng" algn="ctr">
            <a:solidFill>
              <a:srgbClr val="F79646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1" name="直线连接符 3">
            <a:extLst>
              <a:ext uri="{FF2B5EF4-FFF2-40B4-BE49-F238E27FC236}">
                <a16:creationId xmlns:a16="http://schemas.microsoft.com/office/drawing/2014/main" id="{4A4202A4-11B3-42A1-AC11-426CBE474E62}"/>
              </a:ext>
            </a:extLst>
          </p:cNvPr>
          <p:cNvCxnSpPr/>
          <p:nvPr/>
        </p:nvCxnSpPr>
        <p:spPr>
          <a:xfrm flipV="1">
            <a:off x="0" y="1617642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0F8DE4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2" name="直线连接符 4">
            <a:extLst>
              <a:ext uri="{FF2B5EF4-FFF2-40B4-BE49-F238E27FC236}">
                <a16:creationId xmlns:a16="http://schemas.microsoft.com/office/drawing/2014/main" id="{F65A231A-756A-4F47-9EF4-D29CC8C285AC}"/>
              </a:ext>
            </a:extLst>
          </p:cNvPr>
          <p:cNvCxnSpPr>
            <a:cxnSpLocks/>
          </p:cNvCxnSpPr>
          <p:nvPr/>
        </p:nvCxnSpPr>
        <p:spPr>
          <a:xfrm flipV="1">
            <a:off x="11761296" y="2899064"/>
            <a:ext cx="426357" cy="417905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3" name="直线连接符 5">
            <a:extLst>
              <a:ext uri="{FF2B5EF4-FFF2-40B4-BE49-F238E27FC236}">
                <a16:creationId xmlns:a16="http://schemas.microsoft.com/office/drawing/2014/main" id="{90509B3E-E95F-4F57-9BF9-F626C691792F}"/>
              </a:ext>
            </a:extLst>
          </p:cNvPr>
          <p:cNvCxnSpPr/>
          <p:nvPr/>
        </p:nvCxnSpPr>
        <p:spPr>
          <a:xfrm flipV="1">
            <a:off x="11334939" y="3098120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7DBA18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DB7AD254-B35D-C54E-86B5-E0815BBD7ED8}"/>
              </a:ext>
            </a:extLst>
          </p:cNvPr>
          <p:cNvCxnSpPr>
            <a:cxnSpLocks/>
          </p:cNvCxnSpPr>
          <p:nvPr userDrawn="1"/>
        </p:nvCxnSpPr>
        <p:spPr>
          <a:xfrm>
            <a:off x="2857500" y="3802063"/>
            <a:ext cx="6489700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81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B1C00-E3E4-49B3-9C35-483BF622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621A84-5A5A-4173-8228-8BA6516FB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D048A2-812D-4C24-8A8E-338120FB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7A6A80-1146-47F5-9C26-C3C10AF6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8B2A0E-537C-4C2A-9791-DE2DDBA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735397-265B-4B0F-9F9B-41A8667D1A6D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43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F3AAB-37EE-42B7-B1AD-154ABE73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D722E-086E-48AC-8D2F-A33B5BF66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A91AE1-4986-40C1-AA03-FC7F11C26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70BC58-BC7D-4DF6-874B-F50A93BF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6B4663-2591-4DA2-A950-617BE645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F9F09C-87F7-4126-8774-3043D2F3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079601-3473-274C-8DAF-BA399B10C6C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83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1784B-2DD8-4EBF-ACEB-ED3C8B2E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9E6715-0BA9-41D1-B20D-5CC669F5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BDB650-FC69-402E-85EA-1F644C77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BCE715-5016-4689-ADBC-8EFD8130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CC1602-8C49-44B0-AE30-B85DA58D503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989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D2F79A-AEB1-4453-8D4C-019B041F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064D08-45C5-462F-9289-7BDBFAB3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E85466-A6EC-418B-8977-4C961D94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2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2440D-F75C-435C-B7C0-D0F8326D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86F627-8DB1-43C4-B6D3-1DAB85D53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173453-9167-44DF-A47C-CC79A567A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C1777-5CDE-4858-AB60-B1877140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34676F-F354-42A7-BDD9-110BF12B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E4F74D-BC55-4588-8571-089C3F1B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23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018F6-D03D-437B-8705-3A6F10CC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49E65C-98B7-4762-9C09-E07B9668F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4D7FE6-96E0-4196-AEFE-A55C25E4A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EAF5FA-E4E3-4071-9DE2-EC1B3AA3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B77344-7560-4758-8D32-EEFFE7C5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829A8-875C-4D1C-9DE0-A0E7D294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27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741E2-2215-4033-8B88-136D0493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D5374E-D12D-4A1D-9A38-CAE0E95C9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43E59C-34D0-4E65-9ABF-51B277D7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64C9E-12AC-4D3D-A8F0-EE5D07FD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55221-E5BC-46A7-B0A2-DD9100D9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30409D-7157-0F45-8526-E2FF6768C778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01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0216CB-E6B3-449B-A5C5-E4DA87FDB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169033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37BA2-564C-4A7E-8252-D4EE2D725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1805B6-232E-40DC-A380-BA68F179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5ED9A1-E219-4CC3-8246-2DE18005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D68C74-5939-4704-AB50-6D016B00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14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DEB769-90F4-4E95-9218-D0EE1F06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7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85D4D3-A94F-4002-BBFF-CED97B747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5483"/>
            <a:ext cx="10515600" cy="496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1BC90-BF9C-4905-B8A4-D7E867D52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71D6F-EBCB-4AF5-B61E-6ABD99B4C266}" type="datetimeFigureOut">
              <a:rPr lang="zh-CN" altLang="en-US" smtClean="0"/>
              <a:t>2021/1/30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7BFFA-3257-4D74-B1D4-24034E518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C16F8-32A5-4C84-BE2D-14537AEAD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8EC335-4299-4578-9A32-C78E142965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0" y="226093"/>
            <a:ext cx="15430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9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marL="0" algn="l" defTabSz="457200" rtl="0" eaLnBrk="1" latinLnBrk="0" hangingPunct="1">
        <a:lnSpc>
          <a:spcPct val="90000"/>
        </a:lnSpc>
        <a:spcBef>
          <a:spcPct val="0"/>
        </a:spcBef>
        <a:buNone/>
        <a:defRPr lang="zh-CN" altLang="en-US" sz="1800" kern="1200" dirty="0">
          <a:solidFill>
            <a:srgbClr val="009CE0"/>
          </a:solidFill>
          <a:latin typeface="Arial"/>
          <a:ea typeface="Microsoft YaHei"/>
          <a:cs typeface="Arial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kumimoji="1" lang="zh-CN" altLang="en-US" sz="1600" kern="1200" dirty="0" smtClean="0">
          <a:solidFill>
            <a:schemeClr val="tx1">
              <a:lumMod val="65000"/>
              <a:lumOff val="35000"/>
            </a:schemeClr>
          </a:solidFill>
          <a:latin typeface="Arial"/>
          <a:ea typeface="Microsoft YaHei"/>
          <a:cs typeface="Arial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kumimoji="1" lang="zh-CN" altLang="en-US" sz="1400" kern="1200" dirty="0" smtClean="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weixin.qq.com/ebook?action=get_post_info&amp;docid=0004eec99acc808b00861a5bd5280a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weixin.qq.com/miniprogram/dev/reference/configuration/app.html#tabBar" TargetMode="External"/><Relationship Id="rId2" Type="http://schemas.openxmlformats.org/officeDocument/2006/relationships/hyperlink" Target="https://developers.weixin.qq.com/miniprogram/dev/framework/config.html#%E5%85%A8%E5%B1%80%E9%85%8D%E7%BD%A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s.weixin.qq.com/miniprogram/dev/api/route/wx.switchTab.html" TargetMode="External"/><Relationship Id="rId4" Type="http://schemas.openxmlformats.org/officeDocument/2006/relationships/hyperlink" Target="https://developers.weixin.qq.com/miniprogram/dev/component/navigator.html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weixin.qq.com/miniprogram/dev/reference/api/Component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weixin.qq.com/miniprogram/dev/api/base/app/life-cycle/wx.getLaunchOptionsSync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weixin.qq.com/miniprogram/dev/api/base/system/system-info/wx.getSystemInfoSync.html" TargetMode="External"/><Relationship Id="rId2" Type="http://schemas.openxmlformats.org/officeDocument/2006/relationships/hyperlink" Target="https://developers.weixin.qq.com/miniprogram/dev/api/base/app/app-event/wx.onErro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s.weixin.qq.com/miniprogram/dev/api/ui/navigation-bar/wx.setNavigationBarTitle.html" TargetMode="External"/><Relationship Id="rId5" Type="http://schemas.openxmlformats.org/officeDocument/2006/relationships/hyperlink" Target="https://developers.weixin.qq.com/miniprogram/dev/api/network/request/wx.request.html" TargetMode="External"/><Relationship Id="rId4" Type="http://schemas.openxmlformats.org/officeDocument/2006/relationships/hyperlink" Target="https://developers.weixin.qq.com/miniprogram/dev/api/base/system/system-info/wx.getSystemInfo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9E4BE-20F3-4933-990A-C36111915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0"/>
              <a:t>微信小程序宿主环境</a:t>
            </a:r>
            <a:endParaRPr lang="zh-CN" altLang="en-US" b="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77D6E-0937-4A3A-84ED-ED526B86D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李伟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29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7FE90-6696-466D-BAE0-0B6B78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70254-B5D0-4622-AA7C-7A637938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理解微信小程序的宿主环境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使微信小程序的各种文件协调合作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5428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7FE90-6696-466D-BAE0-0B6B78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知识点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70254-B5D0-4622-AA7C-7A637938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渲染层和逻辑层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程序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页面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组件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API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事件</a:t>
            </a:r>
          </a:p>
          <a:p>
            <a:pPr marL="342900" indent="-342900">
              <a:buFont typeface="+mj-lt"/>
              <a:buAutoNum type="arabicPeriod"/>
            </a:pPr>
            <a:endParaRPr lang="zh-CN" altLang="en-US"/>
          </a:p>
          <a:p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83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7FE90-6696-466D-BAE0-0B6B78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前言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70254-B5D0-4622-AA7C-7A6379383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170"/>
            <a:ext cx="10515600" cy="2624997"/>
          </a:xfrm>
        </p:spPr>
        <p:txBody>
          <a:bodyPr/>
          <a:lstStyle/>
          <a:p>
            <a:r>
              <a:rPr lang="zh-CN" altLang="en-US"/>
              <a:t>宿主环境是</a:t>
            </a:r>
            <a:r>
              <a:rPr lang="zh-CN" altLang="en-US">
                <a:solidFill>
                  <a:srgbClr val="00B0F0"/>
                </a:solidFill>
              </a:rPr>
              <a:t>微信客户端给小程序提供的一种环境</a:t>
            </a:r>
            <a:r>
              <a:rPr lang="zh-CN" altLang="en-US"/>
              <a:t> 。</a:t>
            </a:r>
            <a:endParaRPr lang="en-US" altLang="zh-CN"/>
          </a:p>
          <a:p>
            <a:r>
              <a:rPr lang="zh-CN" altLang="en-US"/>
              <a:t>宿主指的就是</a:t>
            </a:r>
            <a:r>
              <a:rPr lang="zh-CN" altLang="en-US">
                <a:solidFill>
                  <a:srgbClr val="00B0F0"/>
                </a:solidFill>
              </a:rPr>
              <a:t>微信客户端</a:t>
            </a:r>
            <a:r>
              <a:rPr lang="zh-CN" altLang="en-US"/>
              <a:t>，也就是官方</a:t>
            </a:r>
            <a:r>
              <a:rPr lang="en-US" altLang="zh-CN"/>
              <a:t>API</a:t>
            </a:r>
            <a:r>
              <a:rPr lang="zh-CN" altLang="en-US"/>
              <a:t>里的</a:t>
            </a:r>
            <a:r>
              <a:rPr lang="en-US" altLang="zh-CN">
                <a:solidFill>
                  <a:srgbClr val="00A5E3"/>
                </a:solidFill>
              </a:rPr>
              <a:t>wx</a:t>
            </a:r>
            <a:r>
              <a:rPr lang="en-US" altLang="zh-CN"/>
              <a:t> </a:t>
            </a:r>
            <a:r>
              <a:rPr lang="zh-CN" altLang="en-US"/>
              <a:t>对象。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宿主环境的作用是什么？</a:t>
            </a:r>
            <a:endParaRPr lang="en-US" altLang="zh-CN"/>
          </a:p>
          <a:p>
            <a:r>
              <a:rPr lang="zh-CN" altLang="en-US"/>
              <a:t>宿主环境会把我们写的各种文件</a:t>
            </a:r>
            <a:r>
              <a:rPr lang="zh-CN" altLang="en-US">
                <a:solidFill>
                  <a:srgbClr val="00A5E3"/>
                </a:solidFill>
              </a:rPr>
              <a:t>整合</a:t>
            </a:r>
            <a:r>
              <a:rPr lang="zh-CN" altLang="en-US"/>
              <a:t>到一起，进行</a:t>
            </a:r>
            <a:r>
              <a:rPr lang="zh-CN" altLang="en-US">
                <a:solidFill>
                  <a:srgbClr val="00A5E3"/>
                </a:solidFill>
              </a:rPr>
              <a:t>解析</a:t>
            </a:r>
            <a:r>
              <a:rPr lang="zh-CN" altLang="en-US"/>
              <a:t>，然后在微信</a:t>
            </a:r>
            <a:r>
              <a:rPr lang="en-US" altLang="zh-CN"/>
              <a:t>APP </a:t>
            </a:r>
            <a:r>
              <a:rPr lang="zh-CN" altLang="en-US"/>
              <a:t>里</a:t>
            </a:r>
            <a:r>
              <a:rPr lang="zh-CN" altLang="en-US">
                <a:solidFill>
                  <a:srgbClr val="00A5E3"/>
                </a:solidFill>
              </a:rPr>
              <a:t>显示</a:t>
            </a:r>
            <a:r>
              <a:rPr lang="zh-CN" altLang="en-US"/>
              <a:t>出我们所看到的样子。</a:t>
            </a:r>
            <a:endParaRPr lang="en-US" altLang="zh-CN"/>
          </a:p>
          <a:p>
            <a:r>
              <a:rPr lang="zh-CN" altLang="en-US"/>
              <a:t>宿主环境可以为小程序提供微信</a:t>
            </a:r>
            <a:r>
              <a:rPr lang="zh-CN" altLang="en-US">
                <a:solidFill>
                  <a:srgbClr val="00A5E3"/>
                </a:solidFill>
              </a:rPr>
              <a:t>客户端的能力</a:t>
            </a:r>
            <a:r>
              <a:rPr lang="zh-CN" altLang="en-US"/>
              <a:t>，比如微信扫码，这是普通网页不具备的。</a:t>
            </a:r>
            <a:endParaRPr lang="en-US" altLang="zh-CN"/>
          </a:p>
          <a:p>
            <a:endParaRPr lang="en-US" altLang="zh-CN"/>
          </a:p>
          <a:p>
            <a:endParaRPr lang="en-US" altLang="zh-CN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6D8A909-CE44-4DDD-AC3C-0D1085A7716C}"/>
              </a:ext>
            </a:extLst>
          </p:cNvPr>
          <p:cNvGrpSpPr/>
          <p:nvPr/>
        </p:nvGrpSpPr>
        <p:grpSpPr>
          <a:xfrm>
            <a:off x="996140" y="3937464"/>
            <a:ext cx="7796390" cy="1958565"/>
            <a:chOff x="954576" y="4075568"/>
            <a:chExt cx="7796390" cy="19585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BF9C9EB-A9F9-4C66-852F-7805D78EA2ED}"/>
                </a:ext>
              </a:extLst>
            </p:cNvPr>
            <p:cNvSpPr/>
            <p:nvPr/>
          </p:nvSpPr>
          <p:spPr>
            <a:xfrm>
              <a:off x="954576" y="4309751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wxml</a:t>
              </a:r>
              <a:endPara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C9D2A35-6228-44B0-A118-5ECF431779A8}"/>
                </a:ext>
              </a:extLst>
            </p:cNvPr>
            <p:cNvSpPr/>
            <p:nvPr/>
          </p:nvSpPr>
          <p:spPr>
            <a:xfrm>
              <a:off x="954576" y="4642260"/>
              <a:ext cx="6399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wxss</a:t>
              </a:r>
              <a:endPara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4E738C1-142D-4329-BBA4-9CCB60F148ED}"/>
                </a:ext>
              </a:extLst>
            </p:cNvPr>
            <p:cNvSpPr/>
            <p:nvPr/>
          </p:nvSpPr>
          <p:spPr>
            <a:xfrm>
              <a:off x="954576" y="4980814"/>
              <a:ext cx="33374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js</a:t>
              </a:r>
              <a:endPara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86E8EBA-EC16-457E-AAA3-1580723C1E24}"/>
                </a:ext>
              </a:extLst>
            </p:cNvPr>
            <p:cNvSpPr/>
            <p:nvPr/>
          </p:nvSpPr>
          <p:spPr>
            <a:xfrm>
              <a:off x="954576" y="5323126"/>
              <a:ext cx="5902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json</a:t>
              </a:r>
              <a:endPara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E49DD0CE-3A90-4112-BA1E-7DFD0451059A}"/>
                </a:ext>
              </a:extLst>
            </p:cNvPr>
            <p:cNvCxnSpPr/>
            <p:nvPr/>
          </p:nvCxnSpPr>
          <p:spPr>
            <a:xfrm>
              <a:off x="1770609" y="4479028"/>
              <a:ext cx="1005840" cy="332509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4611C120-38F7-491A-81C9-5B76F9D4AB6E}"/>
                </a:ext>
              </a:extLst>
            </p:cNvPr>
            <p:cNvCxnSpPr>
              <a:cxnSpLocks/>
            </p:cNvCxnSpPr>
            <p:nvPr/>
          </p:nvCxnSpPr>
          <p:spPr>
            <a:xfrm>
              <a:off x="1770609" y="4871258"/>
              <a:ext cx="1005840" cy="103511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69ECA32-898B-4520-BD74-97C1A9B53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0609" y="5150091"/>
              <a:ext cx="1005840" cy="58925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D9D489D1-D488-4BB4-8F56-CCA8DA882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0609" y="5319368"/>
              <a:ext cx="1005840" cy="233534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F42594C-67D5-4C8A-8FE2-8F915F0D237C}"/>
                </a:ext>
              </a:extLst>
            </p:cNvPr>
            <p:cNvSpPr/>
            <p:nvPr/>
          </p:nvSpPr>
          <p:spPr>
            <a:xfrm>
              <a:off x="2952563" y="4448022"/>
              <a:ext cx="1587731" cy="1213658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52478B58-E5CB-408F-8E0C-B0482E06B5D9}"/>
                </a:ext>
              </a:extLst>
            </p:cNvPr>
            <p:cNvCxnSpPr/>
            <p:nvPr/>
          </p:nvCxnSpPr>
          <p:spPr>
            <a:xfrm>
              <a:off x="4721627" y="5039739"/>
              <a:ext cx="5902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08D83CED-34E1-47A2-A3F8-3064D5C99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98362" y="4075568"/>
              <a:ext cx="1096914" cy="1958565"/>
            </a:xfrm>
            <a:prstGeom prst="rect">
              <a:avLst/>
            </a:prstGeom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50AB2EC-B84E-4D8D-8AEE-B4794D7D9447}"/>
                </a:ext>
              </a:extLst>
            </p:cNvPr>
            <p:cNvSpPr/>
            <p:nvPr/>
          </p:nvSpPr>
          <p:spPr>
            <a:xfrm>
              <a:off x="7130009" y="4871258"/>
              <a:ext cx="162095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微信小程序界面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4484E49-9DF8-4CBC-9754-B24FAAA52847}"/>
                </a:ext>
              </a:extLst>
            </p:cNvPr>
            <p:cNvSpPr/>
            <p:nvPr/>
          </p:nvSpPr>
          <p:spPr>
            <a:xfrm>
              <a:off x="3228277" y="4871258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宿主环境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4410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EA00190C-A318-4C6C-989F-3A4149D5E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562" y="902368"/>
            <a:ext cx="7541438" cy="532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双</a:t>
            </a:r>
            <a:r>
              <a:rPr lang="zh-CN" altLang="en-US" dirty="0"/>
              <a:t>线程下的</a:t>
            </a:r>
            <a:r>
              <a:rPr lang="zh-CN" altLang="en-US"/>
              <a:t>界面渲染原理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4046621" cy="496148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渲染层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，宿主环境会把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WXML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转化成对应的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对象，也就是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</a:t>
            </a: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逻辑层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发生数据变更的时候，我们可以用</a:t>
            </a: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setData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方法把数据从逻辑层传递到渲染层。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在渲染层对比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</a:t>
            </a: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的前后差异，把差异应用在真实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上，渲染出正确的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界面。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0806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1800"/>
              <a:t>WXML</a:t>
            </a:r>
            <a:r>
              <a:rPr lang="zh-CN" altLang="en-US" sz="1800"/>
              <a:t>变成</a:t>
            </a:r>
            <a:r>
              <a:rPr lang="zh-CN" altLang="en-US"/>
              <a:t>虚拟</a:t>
            </a:r>
            <a:r>
              <a:rPr lang="en-US" altLang="zh-CN"/>
              <a:t>DOM</a:t>
            </a:r>
            <a:r>
              <a:rPr lang="zh-CN" altLang="en-US"/>
              <a:t>后的样子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2A474D-32C3-4D45-8046-7A536BA6F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9" y="1032209"/>
            <a:ext cx="8153401" cy="5317749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435D4B7-14D6-414B-93BE-8F3E6C202E47}"/>
              </a:ext>
            </a:extLst>
          </p:cNvPr>
          <p:cNvSpPr txBox="1">
            <a:spLocks/>
          </p:cNvSpPr>
          <p:nvPr/>
        </p:nvSpPr>
        <p:spPr>
          <a:xfrm>
            <a:off x="790069" y="1493419"/>
            <a:ext cx="2394287" cy="193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kumimoji="1" lang="zh-CN" altLang="en-US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zh-CN" altLang="en-US" sz="1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/>
              <a:t>WXML</a:t>
            </a:r>
            <a:r>
              <a:rPr lang="zh-CN" altLang="en-US" sz="1400"/>
              <a:t>结构实际上等价于一棵</a:t>
            </a:r>
            <a:r>
              <a:rPr lang="en-US" altLang="zh-CN" sz="1400"/>
              <a:t>Dom</a:t>
            </a:r>
            <a:r>
              <a:rPr lang="zh-CN" altLang="en-US" sz="1400"/>
              <a:t>树，即</a:t>
            </a:r>
            <a:r>
              <a:rPr lang="zh-CN" altLang="en-US" sz="1400">
                <a:solidFill>
                  <a:srgbClr val="00A5E3"/>
                </a:solidFill>
              </a:rPr>
              <a:t>真实</a:t>
            </a:r>
            <a:r>
              <a:rPr lang="en-US" altLang="zh-CN" sz="1400">
                <a:solidFill>
                  <a:srgbClr val="00A5E3"/>
                </a:solidFill>
              </a:rPr>
              <a:t>Dom</a:t>
            </a:r>
            <a:r>
              <a:rPr lang="zh-CN" altLang="en-US" sz="1400"/>
              <a:t>。</a:t>
            </a:r>
            <a:endParaRPr lang="zh-CN" altLang="en-US"/>
          </a:p>
          <a:p>
            <a:endParaRPr lang="zh-CN" alt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1D5C53A-EF27-4FE9-82E5-A0C6175881DC}"/>
              </a:ext>
            </a:extLst>
          </p:cNvPr>
          <p:cNvSpPr txBox="1">
            <a:spLocks/>
          </p:cNvSpPr>
          <p:nvPr/>
        </p:nvSpPr>
        <p:spPr>
          <a:xfrm>
            <a:off x="790069" y="3923795"/>
            <a:ext cx="2394287" cy="808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kumimoji="1" lang="zh-CN" altLang="en-US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zh-CN" altLang="en-US" sz="1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/>
              <a:t>JS</a:t>
            </a:r>
            <a:r>
              <a:rPr lang="zh-CN" altLang="en-US" sz="1400"/>
              <a:t>对象也可以来表达</a:t>
            </a:r>
            <a:r>
              <a:rPr lang="en-US" altLang="zh-CN" sz="1400"/>
              <a:t>Dom</a:t>
            </a:r>
            <a:r>
              <a:rPr lang="zh-CN" altLang="en-US" sz="1400"/>
              <a:t>树的结构，即</a:t>
            </a:r>
            <a:r>
              <a:rPr lang="zh-CN" altLang="en-US" sz="1400">
                <a:solidFill>
                  <a:srgbClr val="00A5E3"/>
                </a:solidFill>
              </a:rPr>
              <a:t>虚拟</a:t>
            </a:r>
            <a:r>
              <a:rPr lang="en-US" altLang="zh-CN" sz="1400">
                <a:solidFill>
                  <a:srgbClr val="00A5E3"/>
                </a:solidFill>
              </a:rPr>
              <a:t>Dom</a:t>
            </a:r>
            <a:r>
              <a:rPr lang="zh-CN" altLang="en-US" sz="1400"/>
              <a:t>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91BE6A2-7AA4-40E1-89A4-903381910321}"/>
              </a:ext>
            </a:extLst>
          </p:cNvPr>
          <p:cNvSpPr txBox="1">
            <a:spLocks/>
          </p:cNvSpPr>
          <p:nvPr/>
        </p:nvSpPr>
        <p:spPr>
          <a:xfrm>
            <a:off x="7648069" y="1661161"/>
            <a:ext cx="3751451" cy="9220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kumimoji="1" lang="zh-CN" altLang="en-US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zh-CN" altLang="en-US" sz="1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一棵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DOM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树，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可以用真实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Dom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来描述，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也可以用虚拟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Dom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来描述。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96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这里说的</a:t>
            </a:r>
            <a:r>
              <a:rPr lang="en-US" altLang="zh-CN"/>
              <a:t>App </a:t>
            </a:r>
            <a:r>
              <a:rPr lang="zh-CN" altLang="en-US"/>
              <a:t>是宿主环境提供的一个 </a:t>
            </a:r>
            <a:r>
              <a:rPr lang="en-US" altLang="zh-CN">
                <a:solidFill>
                  <a:srgbClr val="00A5E3"/>
                </a:solidFill>
              </a:rPr>
              <a:t>App() </a:t>
            </a:r>
            <a:r>
              <a:rPr lang="zh-CN" altLang="en-US">
                <a:solidFill>
                  <a:srgbClr val="00A5E3"/>
                </a:solidFill>
              </a:rPr>
              <a:t>构造器</a:t>
            </a:r>
            <a:r>
              <a:rPr lang="zh-CN" altLang="en-US"/>
              <a:t>，用于注册一个程序</a:t>
            </a:r>
            <a:r>
              <a:rPr lang="en-US" altLang="zh-CN"/>
              <a:t>App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App() </a:t>
            </a:r>
            <a:r>
              <a:rPr lang="zh-CN" altLang="en-US"/>
              <a:t>构造器必须写在项目根目录的</a:t>
            </a:r>
            <a:r>
              <a:rPr lang="en-US" altLang="zh-CN"/>
              <a:t>app.js</a:t>
            </a:r>
            <a:r>
              <a:rPr lang="zh-CN" altLang="en-US"/>
              <a:t>里。如：</a:t>
            </a:r>
            <a:r>
              <a:rPr lang="en-US" altLang="zh-CN"/>
              <a:t>App({…})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App</a:t>
            </a:r>
            <a:r>
              <a:rPr lang="zh-CN" altLang="en-US"/>
              <a:t>实例是</a:t>
            </a:r>
            <a:r>
              <a:rPr lang="zh-CN" altLang="en-US">
                <a:solidFill>
                  <a:srgbClr val="00B0F0"/>
                </a:solidFill>
              </a:rPr>
              <a:t>单例对象</a:t>
            </a:r>
            <a:r>
              <a:rPr lang="zh-CN" altLang="en-US">
                <a:solidFill>
                  <a:schemeClr val="tx1"/>
                </a:solidFill>
              </a:rPr>
              <a:t>，也</a:t>
            </a:r>
            <a:r>
              <a:rPr lang="zh-CN" altLang="en-US"/>
              <a:t>是一个全局对象，就像网页里的</a:t>
            </a:r>
            <a:r>
              <a:rPr lang="en-US" altLang="zh-CN"/>
              <a:t>window</a:t>
            </a:r>
            <a:r>
              <a:rPr lang="zh-CN" altLang="en-US"/>
              <a:t>一样。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在其他</a:t>
            </a:r>
            <a:r>
              <a:rPr lang="en-US" altLang="zh-CN"/>
              <a:t>JS</a:t>
            </a:r>
            <a:r>
              <a:rPr lang="zh-CN" altLang="en-US"/>
              <a:t>脚本中可以使用宿主环境提供的 </a:t>
            </a:r>
            <a:r>
              <a:rPr lang="en-US" altLang="zh-CN">
                <a:solidFill>
                  <a:srgbClr val="00B0F0"/>
                </a:solidFill>
              </a:rPr>
              <a:t>getApp() </a:t>
            </a:r>
            <a:r>
              <a:rPr lang="zh-CN" altLang="en-US"/>
              <a:t>方法来获取</a:t>
            </a:r>
            <a:r>
              <a:rPr lang="en-US" altLang="zh-CN"/>
              <a:t>App </a:t>
            </a:r>
            <a:r>
              <a:rPr lang="zh-CN" altLang="en-US"/>
              <a:t>实例。利用</a:t>
            </a:r>
            <a:r>
              <a:rPr lang="en-US" altLang="zh-CN"/>
              <a:t>getApp() </a:t>
            </a:r>
            <a:r>
              <a:rPr lang="zh-CN" altLang="en-US"/>
              <a:t>我们可以将数据写入全局，或者从全局读取数据。</a:t>
            </a:r>
            <a:r>
              <a:rPr lang="en-US" altLang="zh-CN"/>
              <a:t> </a:t>
            </a:r>
            <a:r>
              <a:rPr lang="zh-CN" altLang="en-US"/>
              <a:t>如：</a:t>
            </a:r>
            <a:endParaRPr lang="en-US" altLang="zh-CN"/>
          </a:p>
          <a:p>
            <a:r>
              <a:rPr lang="en-US" altLang="zh-CN"/>
              <a:t>	const app = getApp()</a:t>
            </a:r>
          </a:p>
          <a:p>
            <a:r>
              <a:rPr lang="en-US" altLang="zh-CN"/>
              <a:t>	app.</a:t>
            </a:r>
            <a:r>
              <a:rPr lang="en-US" altLang="zh-CN">
                <a:solidFill>
                  <a:srgbClr val="00B0F0"/>
                </a:solidFill>
              </a:rPr>
              <a:t>globalData</a:t>
            </a:r>
            <a:r>
              <a:rPr lang="en-US" altLang="zh-CN"/>
              <a:t>.motto=‘</a:t>
            </a:r>
            <a:r>
              <a:rPr lang="zh-CN" altLang="en-US"/>
              <a:t>好好学习</a:t>
            </a:r>
            <a:r>
              <a:rPr lang="en-US" altLang="zh-CN"/>
              <a:t>’</a:t>
            </a:r>
          </a:p>
          <a:p>
            <a:r>
              <a:rPr lang="en-US" altLang="zh-CN"/>
              <a:t>     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418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点开微信小程序的一瞬间，微信客户端做了些什么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9FF73A3-6268-4CC7-AE94-535B2F1E173C}"/>
              </a:ext>
            </a:extLst>
          </p:cNvPr>
          <p:cNvSpPr/>
          <p:nvPr/>
        </p:nvSpPr>
        <p:spPr>
          <a:xfrm>
            <a:off x="751031" y="1770396"/>
            <a:ext cx="1909010" cy="473242"/>
          </a:xfrm>
          <a:prstGeom prst="roundRect">
            <a:avLst/>
          </a:prstGeom>
          <a:noFill/>
          <a:ln>
            <a:solidFill>
              <a:srgbClr val="00A5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点开微信小程序 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9B29A6B-D435-4381-8A99-D5DE67A803CE}"/>
              </a:ext>
            </a:extLst>
          </p:cNvPr>
          <p:cNvSpPr/>
          <p:nvPr/>
        </p:nvSpPr>
        <p:spPr>
          <a:xfrm>
            <a:off x="3099782" y="1770397"/>
            <a:ext cx="2486525" cy="473242"/>
          </a:xfrm>
          <a:prstGeom prst="roundRect">
            <a:avLst/>
          </a:prstGeom>
          <a:noFill/>
          <a:ln>
            <a:solidFill>
              <a:srgbClr val="00A5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微信客户端初始化宿主环境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06F5407-0E3F-4C93-B992-6499503E869C}"/>
              </a:ext>
            </a:extLst>
          </p:cNvPr>
          <p:cNvSpPr/>
          <p:nvPr/>
        </p:nvSpPr>
        <p:spPr>
          <a:xfrm>
            <a:off x="3645210" y="2628650"/>
            <a:ext cx="1395668" cy="473242"/>
          </a:xfrm>
          <a:prstGeom prst="roundRect">
            <a:avLst/>
          </a:prstGeom>
          <a:noFill/>
          <a:ln>
            <a:solidFill>
              <a:srgbClr val="00A5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小程序代码包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89A01F5-28A8-40A1-8906-E357DB713C0F}"/>
              </a:ext>
            </a:extLst>
          </p:cNvPr>
          <p:cNvSpPr/>
          <p:nvPr/>
        </p:nvSpPr>
        <p:spPr>
          <a:xfrm>
            <a:off x="3204055" y="3486903"/>
            <a:ext cx="1090856" cy="473242"/>
          </a:xfrm>
          <a:prstGeom prst="roundRect">
            <a:avLst/>
          </a:prstGeom>
          <a:noFill/>
          <a:ln>
            <a:solidFill>
              <a:srgbClr val="00A5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网络下载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D58B766-64E6-4B3C-9F0B-BFF0A4F45ED9}"/>
              </a:ext>
            </a:extLst>
          </p:cNvPr>
          <p:cNvSpPr/>
          <p:nvPr/>
        </p:nvSpPr>
        <p:spPr>
          <a:xfrm>
            <a:off x="4447317" y="3486903"/>
            <a:ext cx="1090856" cy="473242"/>
          </a:xfrm>
          <a:prstGeom prst="roundRect">
            <a:avLst/>
          </a:prstGeom>
          <a:noFill/>
          <a:ln>
            <a:solidFill>
              <a:srgbClr val="00A5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本地缓存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A3DBD02-C5BD-4451-9069-CD8B961D02BA}"/>
              </a:ext>
            </a:extLst>
          </p:cNvPr>
          <p:cNvSpPr/>
          <p:nvPr/>
        </p:nvSpPr>
        <p:spPr>
          <a:xfrm>
            <a:off x="7518495" y="1770397"/>
            <a:ext cx="1050755" cy="473242"/>
          </a:xfrm>
          <a:prstGeom prst="roundRect">
            <a:avLst/>
          </a:prstGeom>
          <a:noFill/>
          <a:ln>
            <a:solidFill>
              <a:srgbClr val="00A5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5A90CF2-36E6-4904-8DDA-1FE37EE4C337}"/>
              </a:ext>
            </a:extLst>
          </p:cNvPr>
          <p:cNvSpPr/>
          <p:nvPr/>
        </p:nvSpPr>
        <p:spPr>
          <a:xfrm>
            <a:off x="5730153" y="1652086"/>
            <a:ext cx="16129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333333"/>
                </a:solidFill>
                <a:latin typeface="-apple-system-font"/>
              </a:rPr>
              <a:t>派发</a:t>
            </a:r>
            <a:r>
              <a:rPr lang="en-US" altLang="zh-CN" sz="1400">
                <a:solidFill>
                  <a:schemeClr val="accent2"/>
                </a:solidFill>
                <a:latin typeface="-apple-system-font"/>
              </a:rPr>
              <a:t>onLaunch</a:t>
            </a:r>
            <a:r>
              <a:rPr lang="zh-CN" altLang="en-US" sz="1400">
                <a:solidFill>
                  <a:srgbClr val="333333"/>
                </a:solidFill>
                <a:latin typeface="-apple-system-font"/>
              </a:rPr>
              <a:t>事件</a:t>
            </a:r>
            <a:endParaRPr lang="zh-CN" altLang="en-US" sz="140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4CDD5B8-7539-484C-94BC-4571589260BC}"/>
              </a:ext>
            </a:extLst>
          </p:cNvPr>
          <p:cNvSpPr/>
          <p:nvPr/>
        </p:nvSpPr>
        <p:spPr>
          <a:xfrm>
            <a:off x="7050506" y="2693820"/>
            <a:ext cx="2121565" cy="1266325"/>
          </a:xfrm>
          <a:prstGeom prst="roundRect">
            <a:avLst/>
          </a:prstGeom>
          <a:noFill/>
          <a:ln>
            <a:solidFill>
              <a:srgbClr val="00A5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构造器参数所定义的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onLaunch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方法被微信客户端调用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A1C030A-9745-475B-A1A6-64A28679DAD8}"/>
              </a:ext>
            </a:extLst>
          </p:cNvPr>
          <p:cNvCxnSpPr>
            <a:cxnSpLocks/>
          </p:cNvCxnSpPr>
          <p:nvPr/>
        </p:nvCxnSpPr>
        <p:spPr>
          <a:xfrm>
            <a:off x="2835441" y="2007017"/>
            <a:ext cx="1684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6C6539B-6E44-43AD-B683-3B1610EAB75C}"/>
              </a:ext>
            </a:extLst>
          </p:cNvPr>
          <p:cNvCxnSpPr>
            <a:cxnSpLocks/>
          </p:cNvCxnSpPr>
          <p:nvPr/>
        </p:nvCxnSpPr>
        <p:spPr>
          <a:xfrm flipV="1">
            <a:off x="4346693" y="2307807"/>
            <a:ext cx="0" cy="220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4832584-FEE2-4C5A-AF02-5BFD4DD0A89D}"/>
              </a:ext>
            </a:extLst>
          </p:cNvPr>
          <p:cNvCxnSpPr>
            <a:cxnSpLocks/>
          </p:cNvCxnSpPr>
          <p:nvPr/>
        </p:nvCxnSpPr>
        <p:spPr>
          <a:xfrm flipV="1">
            <a:off x="3905535" y="3194134"/>
            <a:ext cx="0" cy="220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7B8B5EA-5DB3-45AA-BEA3-EE8898EF050F}"/>
              </a:ext>
            </a:extLst>
          </p:cNvPr>
          <p:cNvCxnSpPr>
            <a:cxnSpLocks/>
          </p:cNvCxnSpPr>
          <p:nvPr/>
        </p:nvCxnSpPr>
        <p:spPr>
          <a:xfrm flipV="1">
            <a:off x="4763788" y="3194134"/>
            <a:ext cx="0" cy="220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0C958DE-5822-44E0-9025-5F8E2B93411E}"/>
              </a:ext>
            </a:extLst>
          </p:cNvPr>
          <p:cNvCxnSpPr>
            <a:cxnSpLocks/>
          </p:cNvCxnSpPr>
          <p:nvPr/>
        </p:nvCxnSpPr>
        <p:spPr>
          <a:xfrm>
            <a:off x="5730153" y="2007017"/>
            <a:ext cx="16129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C586D57-C906-42BC-B3A4-3903AA9F5EB4}"/>
              </a:ext>
            </a:extLst>
          </p:cNvPr>
          <p:cNvCxnSpPr>
            <a:cxnSpLocks/>
          </p:cNvCxnSpPr>
          <p:nvPr/>
        </p:nvCxnSpPr>
        <p:spPr>
          <a:xfrm>
            <a:off x="8738936" y="2007017"/>
            <a:ext cx="1684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A59CF21-CAD6-42EC-8D62-F34A7A02EFA8}"/>
              </a:ext>
            </a:extLst>
          </p:cNvPr>
          <p:cNvCxnSpPr>
            <a:cxnSpLocks/>
          </p:cNvCxnSpPr>
          <p:nvPr/>
        </p:nvCxnSpPr>
        <p:spPr>
          <a:xfrm flipV="1">
            <a:off x="8111289" y="2307807"/>
            <a:ext cx="0" cy="220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D4D16033-796C-4273-BA6D-FF8C452C00ED}"/>
              </a:ext>
            </a:extLst>
          </p:cNvPr>
          <p:cNvSpPr/>
          <p:nvPr/>
        </p:nvSpPr>
        <p:spPr>
          <a:xfrm>
            <a:off x="9172071" y="1795697"/>
            <a:ext cx="1909010" cy="473242"/>
          </a:xfrm>
          <a:prstGeom prst="roundRect">
            <a:avLst/>
          </a:prstGeom>
          <a:noFill/>
          <a:ln>
            <a:solidFill>
              <a:srgbClr val="00A5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进入微信小程序 </a:t>
            </a:r>
          </a:p>
        </p:txBody>
      </p:sp>
    </p:spTree>
    <p:extLst>
      <p:ext uri="{BB962C8B-B14F-4D97-AF65-F5344CB8AC3E}">
        <p14:creationId xmlns:p14="http://schemas.microsoft.com/office/powerpoint/2010/main" val="39220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小程序的后台状态和前台状态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后台状态：用户点击小程序</a:t>
            </a:r>
            <a:r>
              <a:rPr lang="zh-CN" altLang="en-US">
                <a:solidFill>
                  <a:srgbClr val="00A5E3"/>
                </a:solidFill>
              </a:rPr>
              <a:t>右上角关闭按钮</a:t>
            </a:r>
            <a:r>
              <a:rPr lang="zh-CN" altLang="en-US"/>
              <a:t>，或手机的</a:t>
            </a:r>
            <a:r>
              <a:rPr lang="en-US" altLang="zh-CN">
                <a:solidFill>
                  <a:srgbClr val="00A5E3"/>
                </a:solidFill>
              </a:rPr>
              <a:t>home </a:t>
            </a:r>
            <a:r>
              <a:rPr lang="zh-CN" altLang="en-US">
                <a:solidFill>
                  <a:srgbClr val="00A5E3"/>
                </a:solidFill>
              </a:rPr>
              <a:t>键</a:t>
            </a:r>
            <a:r>
              <a:rPr lang="zh-CN" altLang="en-US"/>
              <a:t>时，会离开小程序，但小程序</a:t>
            </a:r>
            <a:r>
              <a:rPr lang="zh-CN" altLang="en-US">
                <a:solidFill>
                  <a:srgbClr val="00A5E3"/>
                </a:solidFill>
              </a:rPr>
              <a:t>并不会被销毁</a:t>
            </a:r>
            <a:r>
              <a:rPr lang="zh-CN" altLang="en-US"/>
              <a:t>，而是进入后台状态。此时，</a:t>
            </a:r>
            <a:r>
              <a:rPr lang="en-US" altLang="zh-CN"/>
              <a:t>APP</a:t>
            </a:r>
            <a:r>
              <a:rPr lang="zh-CN" altLang="en-US"/>
              <a:t>构造器参数里的</a:t>
            </a:r>
            <a:r>
              <a:rPr lang="en-US" altLang="zh-CN">
                <a:solidFill>
                  <a:srgbClr val="00B0F0"/>
                </a:solidFill>
              </a:rPr>
              <a:t>onHide</a:t>
            </a:r>
            <a:r>
              <a:rPr lang="en-US" altLang="zh-CN"/>
              <a:t> </a:t>
            </a:r>
            <a:r>
              <a:rPr lang="zh-CN" altLang="en-US"/>
              <a:t>方法会被调用。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前台状态：用户再次小程序时，微信用户端会唤醒后台状态的微信小程序，微信小程序就进入了前台状态，</a:t>
            </a:r>
            <a:r>
              <a:rPr lang="en-US" altLang="zh-CN">
                <a:solidFill>
                  <a:srgbClr val="00B0F0"/>
                </a:solidFill>
              </a:rPr>
              <a:t>onShow</a:t>
            </a:r>
            <a:r>
              <a:rPr lang="en-US" altLang="zh-CN"/>
              <a:t> </a:t>
            </a:r>
            <a:r>
              <a:rPr lang="zh-CN" altLang="en-US"/>
              <a:t>方法会被调用。</a:t>
            </a:r>
            <a:endParaRPr lang="en-US" altLang="zh-CN"/>
          </a:p>
          <a:p>
            <a:r>
              <a:rPr lang="zh-CN" altLang="en-US"/>
              <a:t>注意：</a:t>
            </a:r>
            <a:r>
              <a:rPr lang="en-US" altLang="zh-CN"/>
              <a:t>App</a:t>
            </a:r>
            <a:r>
              <a:rPr lang="zh-CN" altLang="en-US"/>
              <a:t>的生命周期是由用户操作主动触发的，开发者不能在代码里主动调用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588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文件构成和路径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一个小程序可以有很多页面，每个页面承载不同的功能，页面之间可以互相跳转。</a:t>
            </a:r>
            <a:endParaRPr lang="en-US" altLang="zh-CN"/>
          </a:p>
          <a:p>
            <a:r>
              <a:rPr lang="zh-CN" altLang="en-US"/>
              <a:t>一个页面是分三部分组成：</a:t>
            </a:r>
            <a:endParaRPr lang="en-US" altLang="zh-CN"/>
          </a:p>
          <a:p>
            <a:r>
              <a:rPr lang="zh-CN" altLang="en-US"/>
              <a:t>界面：</a:t>
            </a:r>
            <a:r>
              <a:rPr lang="en-US" altLang="zh-CN"/>
              <a:t>WXML</a:t>
            </a:r>
            <a:r>
              <a:rPr lang="zh-CN" altLang="en-US"/>
              <a:t>、</a:t>
            </a:r>
            <a:r>
              <a:rPr lang="en-US" altLang="zh-CN"/>
              <a:t>WXSS</a:t>
            </a:r>
          </a:p>
          <a:p>
            <a:r>
              <a:rPr lang="zh-CN" altLang="en-US"/>
              <a:t>配置：</a:t>
            </a:r>
            <a:r>
              <a:rPr lang="en-US" altLang="zh-CN"/>
              <a:t>JSON</a:t>
            </a:r>
          </a:p>
          <a:p>
            <a:r>
              <a:rPr lang="zh-CN" altLang="en-US"/>
              <a:t>逻辑：</a:t>
            </a:r>
            <a:r>
              <a:rPr lang="en-US" altLang="zh-CN"/>
              <a:t>JS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2304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页面构造</a:t>
            </a:r>
            <a:r>
              <a:rPr lang="zh-CN" altLang="en-US"/>
              <a:t>器</a:t>
            </a:r>
            <a:r>
              <a:rPr lang="en-US" altLang="zh-CN"/>
              <a:t>Page()</a:t>
            </a:r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/>
              <a:t>页面的</a:t>
            </a:r>
            <a:r>
              <a:rPr lang="en-US" altLang="zh-CN"/>
              <a:t>js </a:t>
            </a:r>
            <a:r>
              <a:rPr lang="zh-CN" altLang="en-US"/>
              <a:t>里的所有代码都是写在</a:t>
            </a:r>
            <a:r>
              <a:rPr lang="en-US" altLang="zh-CN"/>
              <a:t>Page()</a:t>
            </a:r>
            <a:r>
              <a:rPr lang="zh-CN" altLang="en-US"/>
              <a:t>构造器里的。</a:t>
            </a:r>
            <a:endParaRPr lang="en-US" altLang="zh-CN"/>
          </a:p>
          <a:p>
            <a:r>
              <a:rPr lang="en-US" altLang="zh-CN"/>
              <a:t>Page</a:t>
            </a:r>
            <a:r>
              <a:rPr lang="zh-CN" altLang="en-US"/>
              <a:t>构造器接受一个</a:t>
            </a:r>
            <a:r>
              <a:rPr lang="en-US" altLang="zh-CN">
                <a:hlinkClick r:id="rId2"/>
              </a:rPr>
              <a:t>Object</a:t>
            </a:r>
            <a:r>
              <a:rPr lang="zh-CN" altLang="en-US">
                <a:hlinkClick r:id="rId2"/>
              </a:rPr>
              <a:t>参数</a:t>
            </a:r>
            <a:r>
              <a:rPr lang="zh-CN" altLang="en-US"/>
              <a:t>，在</a:t>
            </a:r>
            <a:r>
              <a:rPr lang="en-US" altLang="zh-CN"/>
              <a:t>Object</a:t>
            </a:r>
            <a:r>
              <a:rPr lang="zh-CN" altLang="en-US"/>
              <a:t>中可以绑定数据，监听页面事件。</a:t>
            </a:r>
            <a:endParaRPr lang="en-US" altLang="zh-CN"/>
          </a:p>
          <a:p>
            <a:r>
              <a:rPr lang="en-US" altLang="zh-CN"/>
              <a:t>Page(</a:t>
            </a:r>
            <a:r>
              <a:rPr lang="en-US" altLang="zh-CN">
                <a:solidFill>
                  <a:schemeClr val="accent2"/>
                </a:solidFill>
              </a:rPr>
              <a:t>{</a:t>
            </a:r>
          </a:p>
          <a:p>
            <a:r>
              <a:rPr lang="en-US" altLang="zh-CN"/>
              <a:t>  </a:t>
            </a:r>
            <a:r>
              <a:rPr lang="en-US" altLang="zh-CN">
                <a:solidFill>
                  <a:schemeClr val="accent2"/>
                </a:solidFill>
              </a:rPr>
              <a:t>data: { text: "This is page data." },</a:t>
            </a:r>
          </a:p>
          <a:p>
            <a:r>
              <a:rPr lang="en-US" altLang="zh-CN">
                <a:solidFill>
                  <a:schemeClr val="accent6"/>
                </a:solidFill>
              </a:rPr>
              <a:t>  onLoad: function(options) { },</a:t>
            </a:r>
          </a:p>
          <a:p>
            <a:r>
              <a:rPr lang="en-US" altLang="zh-CN">
                <a:solidFill>
                  <a:schemeClr val="accent6"/>
                </a:solidFill>
              </a:rPr>
              <a:t>  onReady: function() { },</a:t>
            </a:r>
          </a:p>
          <a:p>
            <a:r>
              <a:rPr lang="en-US" altLang="zh-CN">
                <a:solidFill>
                  <a:schemeClr val="accent6"/>
                </a:solidFill>
              </a:rPr>
              <a:t>  onShow: function() { },</a:t>
            </a:r>
          </a:p>
          <a:p>
            <a:r>
              <a:rPr lang="en-US" altLang="zh-CN">
                <a:solidFill>
                  <a:srgbClr val="00B0F0"/>
                </a:solidFill>
              </a:rPr>
              <a:t>  </a:t>
            </a:r>
            <a:r>
              <a:rPr lang="en-US" altLang="zh-CN">
                <a:solidFill>
                  <a:schemeClr val="accent5"/>
                </a:solidFill>
              </a:rPr>
              <a:t>onHide: function() { },</a:t>
            </a:r>
          </a:p>
          <a:p>
            <a:r>
              <a:rPr lang="en-US" altLang="zh-CN">
                <a:solidFill>
                  <a:schemeClr val="accent5"/>
                </a:solidFill>
              </a:rPr>
              <a:t>  onUnload: function() { },</a:t>
            </a:r>
          </a:p>
          <a:p>
            <a:r>
              <a:rPr lang="en-US" altLang="zh-CN">
                <a:solidFill>
                  <a:schemeClr val="accent5"/>
                </a:solidFill>
              </a:rPr>
              <a:t>  onPullDownRefresh: function() { },</a:t>
            </a:r>
          </a:p>
          <a:p>
            <a:r>
              <a:rPr lang="en-US" altLang="zh-CN">
                <a:solidFill>
                  <a:schemeClr val="accent5"/>
                </a:solidFill>
              </a:rPr>
              <a:t>  onReachBottom: function() { },</a:t>
            </a:r>
          </a:p>
          <a:p>
            <a:r>
              <a:rPr lang="en-US" altLang="zh-CN">
                <a:solidFill>
                  <a:schemeClr val="accent5"/>
                </a:solidFill>
              </a:rPr>
              <a:t>  onShareAppMessage: function () { },</a:t>
            </a:r>
          </a:p>
          <a:p>
            <a:r>
              <a:rPr lang="en-US" altLang="zh-CN">
                <a:solidFill>
                  <a:schemeClr val="accent5"/>
                </a:solidFill>
              </a:rPr>
              <a:t>  onPageScroll: function() { }</a:t>
            </a:r>
          </a:p>
          <a:p>
            <a:r>
              <a:rPr lang="en-US" altLang="zh-CN">
                <a:solidFill>
                  <a:schemeClr val="accent2"/>
                </a:solidFill>
              </a:rPr>
              <a:t>}</a:t>
            </a:r>
            <a:r>
              <a:rPr lang="en-US" altLang="zh-CN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7789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页面的生命周期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页面的生命周期首先要考虑三个事件：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页面初次加载时：</a:t>
            </a:r>
            <a:r>
              <a:rPr lang="en-US" altLang="zh-CN">
                <a:solidFill>
                  <a:srgbClr val="00B0F0"/>
                </a:solidFill>
              </a:rPr>
              <a:t>onLoad</a:t>
            </a:r>
            <a:r>
              <a:rPr lang="zh-CN" altLang="en-US"/>
              <a:t>，在页面没被销毁之前只会触发</a:t>
            </a:r>
            <a:r>
              <a:rPr lang="en-US" altLang="zh-CN"/>
              <a:t>1</a:t>
            </a:r>
            <a:r>
              <a:rPr lang="zh-CN" altLang="en-US"/>
              <a:t>次。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页面显示时：</a:t>
            </a:r>
            <a:r>
              <a:rPr lang="en-US" altLang="zh-CN">
                <a:solidFill>
                  <a:srgbClr val="00B0F0"/>
                </a:solidFill>
              </a:rPr>
              <a:t>onShow</a:t>
            </a:r>
            <a:r>
              <a:rPr lang="zh-CN" altLang="en-US"/>
              <a:t> </a:t>
            </a:r>
            <a:r>
              <a:rPr lang="en-US" altLang="zh-CN"/>
              <a:t> </a:t>
            </a:r>
            <a:r>
              <a:rPr lang="zh-CN" altLang="en-US"/>
              <a:t>，从别的页面返回到当前页面时，都会被调用。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页面初次渲染完成时：</a:t>
            </a:r>
            <a:r>
              <a:rPr lang="en-US" altLang="zh-CN">
                <a:solidFill>
                  <a:srgbClr val="00B0F0"/>
                </a:solidFill>
              </a:rPr>
              <a:t>onReady</a:t>
            </a:r>
            <a:r>
              <a:rPr lang="zh-CN" altLang="en-US"/>
              <a:t>，在页面没被销毁前只会触发</a:t>
            </a:r>
            <a:r>
              <a:rPr lang="en-US" altLang="zh-CN"/>
              <a:t>1</a:t>
            </a:r>
            <a:r>
              <a:rPr lang="zh-CN" altLang="en-US"/>
              <a:t>次，在逻辑层可以和视图层进行交互。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页面显示后，随着用户的操作，还会触发其它的事件：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页面不可见时：</a:t>
            </a:r>
            <a:r>
              <a:rPr lang="en-US" altLang="zh-CN">
                <a:solidFill>
                  <a:srgbClr val="00B0F0"/>
                </a:solidFill>
              </a:rPr>
              <a:t>onHide</a:t>
            </a:r>
            <a:r>
              <a:rPr lang="zh-CN" altLang="en-US"/>
              <a:t>，</a:t>
            </a:r>
            <a:r>
              <a:rPr lang="en-US" altLang="zh-CN"/>
              <a:t>wx.navigateTo</a:t>
            </a:r>
            <a:r>
              <a:rPr lang="zh-CN" altLang="en-US"/>
              <a:t>切换到其他页面、底部</a:t>
            </a:r>
            <a:r>
              <a:rPr lang="en-US" altLang="zh-CN"/>
              <a:t>tab</a:t>
            </a:r>
            <a:r>
              <a:rPr lang="zh-CN" altLang="en-US"/>
              <a:t>切换时触发。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返回到其它页时：</a:t>
            </a:r>
            <a:r>
              <a:rPr lang="en-US" altLang="zh-CN">
                <a:solidFill>
                  <a:srgbClr val="00B0F0"/>
                </a:solidFill>
              </a:rPr>
              <a:t>onUnload</a:t>
            </a:r>
            <a:r>
              <a:rPr lang="zh-CN" altLang="en-US"/>
              <a:t>，</a:t>
            </a:r>
            <a:r>
              <a:rPr lang="en-US" altLang="zh-CN"/>
              <a:t>wx.redirectTo</a:t>
            </a:r>
            <a:r>
              <a:rPr lang="zh-CN" altLang="en-US"/>
              <a:t>或</a:t>
            </a:r>
            <a:r>
              <a:rPr lang="en-US" altLang="zh-CN"/>
              <a:t>wx.navigateBack</a:t>
            </a:r>
            <a:r>
              <a:rPr lang="zh-CN" altLang="en-US"/>
              <a:t>使当前页面会被微信客户端销毁回收时触发。</a:t>
            </a:r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0178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页面的用户行为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下拉刷新 </a:t>
            </a:r>
            <a:r>
              <a:rPr lang="en-US" altLang="zh-CN">
                <a:solidFill>
                  <a:srgbClr val="00A5E3"/>
                </a:solidFill>
              </a:rPr>
              <a:t>onPullDownRefresh</a:t>
            </a:r>
            <a:r>
              <a:rPr lang="zh-CN" altLang="en-US">
                <a:solidFill>
                  <a:srgbClr val="00A5E3"/>
                </a:solidFill>
              </a:rPr>
              <a:t>：</a:t>
            </a:r>
            <a:r>
              <a:rPr lang="zh-CN" altLang="en-US"/>
              <a:t>监听用户下拉刷新事件，需要在全局或具体页面的</a:t>
            </a:r>
            <a:r>
              <a:rPr lang="en-US" altLang="zh-CN"/>
              <a:t>json </a:t>
            </a:r>
            <a:r>
              <a:rPr lang="zh-CN" altLang="en-US"/>
              <a:t>文件中配置</a:t>
            </a:r>
            <a:r>
              <a:rPr lang="en-US" altLang="zh-CN">
                <a:solidFill>
                  <a:schemeClr val="accent2"/>
                </a:solidFill>
              </a:rPr>
              <a:t>enablePullDownRefresh</a:t>
            </a:r>
            <a:r>
              <a:rPr lang="zh-CN" altLang="en-US"/>
              <a:t>为</a:t>
            </a:r>
            <a:r>
              <a:rPr lang="en-US" altLang="zh-CN"/>
              <a:t>true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上拉触底 </a:t>
            </a:r>
            <a:r>
              <a:rPr lang="en-US" altLang="zh-CN">
                <a:solidFill>
                  <a:srgbClr val="00A5E3"/>
                </a:solidFill>
              </a:rPr>
              <a:t>onReachBottom</a:t>
            </a:r>
            <a:r>
              <a:rPr lang="zh-CN" altLang="en-US">
                <a:solidFill>
                  <a:srgbClr val="00A5E3"/>
                </a:solidFill>
              </a:rPr>
              <a:t>：</a:t>
            </a:r>
            <a:r>
              <a:rPr lang="zh-CN" altLang="en-US"/>
              <a:t>监听用户上拉触底事件。可以在</a:t>
            </a:r>
            <a:r>
              <a:rPr lang="en-US" altLang="zh-CN"/>
              <a:t>app.json</a:t>
            </a:r>
            <a:r>
              <a:rPr lang="zh-CN" altLang="en-US"/>
              <a:t>的</a:t>
            </a:r>
            <a:r>
              <a:rPr lang="en-US" altLang="zh-CN"/>
              <a:t>window</a:t>
            </a:r>
            <a:r>
              <a:rPr lang="zh-CN" altLang="en-US"/>
              <a:t>选项中或页面配置</a:t>
            </a:r>
            <a:r>
              <a:rPr lang="en-US" altLang="zh-CN"/>
              <a:t>page.json</a:t>
            </a:r>
            <a:r>
              <a:rPr lang="zh-CN" altLang="en-US"/>
              <a:t>中设置触发距离</a:t>
            </a:r>
            <a:r>
              <a:rPr lang="en-US" altLang="zh-CN"/>
              <a:t>onReachBottomDistance</a:t>
            </a:r>
            <a:r>
              <a:rPr lang="zh-CN" altLang="en-US"/>
              <a:t>。在触发距离内滑动期间，本事件只会被触发一次。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页面滚动 </a:t>
            </a:r>
            <a:r>
              <a:rPr lang="en-US" altLang="zh-CN">
                <a:solidFill>
                  <a:srgbClr val="00A5E3"/>
                </a:solidFill>
              </a:rPr>
              <a:t>onPageScroll</a:t>
            </a:r>
            <a:r>
              <a:rPr lang="zh-CN" altLang="en-US">
                <a:solidFill>
                  <a:srgbClr val="00A5E3"/>
                </a:solidFill>
              </a:rPr>
              <a:t>：</a:t>
            </a:r>
            <a:r>
              <a:rPr lang="zh-CN" altLang="en-US"/>
              <a:t>监听用户滑动页面事件，参数为 </a:t>
            </a:r>
            <a:r>
              <a:rPr lang="en-US" altLang="zh-CN"/>
              <a:t>Object</a:t>
            </a:r>
            <a:r>
              <a:rPr lang="zh-CN" altLang="en-US"/>
              <a:t>，包含 </a:t>
            </a:r>
            <a:r>
              <a:rPr lang="en-US" altLang="zh-CN"/>
              <a:t>scrollTop </a:t>
            </a:r>
            <a:r>
              <a:rPr lang="zh-CN" altLang="en-US"/>
              <a:t>字段，表示页面在垂直方向已滚动的距离（单位</a:t>
            </a:r>
            <a:r>
              <a:rPr lang="en-US" altLang="zh-CN"/>
              <a:t>px</a:t>
            </a:r>
            <a:r>
              <a:rPr lang="zh-CN" altLang="en-US"/>
              <a:t>）。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用户转发 </a:t>
            </a:r>
            <a:r>
              <a:rPr lang="en-US" altLang="zh-CN">
                <a:solidFill>
                  <a:srgbClr val="00A5E3"/>
                </a:solidFill>
              </a:rPr>
              <a:t>onShareAppMessage</a:t>
            </a:r>
            <a:r>
              <a:rPr lang="zh-CN" altLang="en-US">
                <a:solidFill>
                  <a:srgbClr val="00A5E3"/>
                </a:solidFill>
              </a:rPr>
              <a:t>：</a:t>
            </a:r>
            <a:r>
              <a:rPr lang="zh-CN" altLang="en-US"/>
              <a:t>只有定义了此事件处理函数，右上角菜单才会显示“转发”按钮，在用户点击转发按钮的时候会调用，此事件需要</a:t>
            </a:r>
            <a:r>
              <a:rPr lang="en-US" altLang="zh-CN"/>
              <a:t>return</a:t>
            </a:r>
            <a:r>
              <a:rPr lang="zh-CN" altLang="en-US"/>
              <a:t>一个</a:t>
            </a:r>
            <a:r>
              <a:rPr lang="en-US" altLang="zh-CN"/>
              <a:t>Object</a:t>
            </a:r>
            <a:r>
              <a:rPr lang="zh-CN" altLang="en-US"/>
              <a:t>，包含</a:t>
            </a:r>
            <a:r>
              <a:rPr lang="en-US" altLang="zh-CN"/>
              <a:t>title</a:t>
            </a:r>
            <a:r>
              <a:rPr lang="zh-CN" altLang="en-US"/>
              <a:t>和</a:t>
            </a:r>
            <a:r>
              <a:rPr lang="en-US" altLang="zh-CN"/>
              <a:t>path</a:t>
            </a:r>
            <a:r>
              <a:rPr lang="zh-CN" altLang="en-US"/>
              <a:t>两个字段，用于自定义转发内容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6598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页面数据的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5978"/>
            <a:ext cx="10641676" cy="527739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用数据驱动视图渲染要用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this.</a:t>
            </a: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setData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，而要用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this.data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，这不仅无法驱动视图，还会造成数据不一致。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setData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是两个线程间的通信，为了提高性能，每次设置的数据不应超过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1024KB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不要把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中的任意一项的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设为</a:t>
            </a: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undefined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，否则可能会有引起一些不可预料的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5345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页面跳转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页面跳转的方式有很多种：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>
                <a:hlinkClick r:id="rId2"/>
              </a:rPr>
              <a:t>app.json </a:t>
            </a:r>
            <a:r>
              <a:rPr lang="zh-CN" altLang="en-US"/>
              <a:t>中用</a:t>
            </a:r>
            <a:r>
              <a:rPr lang="en-US" altLang="zh-CN">
                <a:hlinkClick r:id="rId3"/>
              </a:rPr>
              <a:t>tabBar</a:t>
            </a:r>
            <a:r>
              <a:rPr lang="en-US" altLang="zh-CN"/>
              <a:t> </a:t>
            </a:r>
            <a:r>
              <a:rPr lang="zh-CN" altLang="en-US"/>
              <a:t>属性设置跳转方式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wxml </a:t>
            </a:r>
            <a:r>
              <a:rPr lang="zh-CN" altLang="en-US"/>
              <a:t>页使用导航组件 </a:t>
            </a:r>
            <a:r>
              <a:rPr lang="en-US" altLang="zh-CN"/>
              <a:t>&lt;</a:t>
            </a:r>
            <a:r>
              <a:rPr lang="en-US" altLang="zh-CN">
                <a:hlinkClick r:id="rId4"/>
              </a:rPr>
              <a:t>navigator</a:t>
            </a:r>
            <a:r>
              <a:rPr lang="en-US" altLang="zh-CN"/>
              <a:t>&gt; </a:t>
            </a:r>
            <a:r>
              <a:rPr lang="zh-CN" altLang="en-US"/>
              <a:t>跳转页面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js </a:t>
            </a:r>
            <a:r>
              <a:rPr lang="zh-CN" altLang="en-US"/>
              <a:t>中用</a:t>
            </a:r>
            <a:r>
              <a:rPr lang="zh-CN" altLang="en-US">
                <a:hlinkClick r:id="rId5"/>
              </a:rPr>
              <a:t>路由</a:t>
            </a:r>
            <a:r>
              <a:rPr lang="en-US" altLang="zh-CN">
                <a:hlinkClick r:id="rId5"/>
              </a:rPr>
              <a:t>API</a:t>
            </a:r>
            <a:r>
              <a:rPr lang="zh-CN" altLang="en-US"/>
              <a:t>跳转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622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运行</a:t>
            </a:r>
            <a:r>
              <a:rPr lang="en-US" altLang="zh-CN"/>
              <a:t>js</a:t>
            </a:r>
            <a:r>
              <a:rPr lang="zh-CN" altLang="en-US"/>
              <a:t>时要留心异步事件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小程序只有一个</a:t>
            </a:r>
            <a:r>
              <a:rPr lang="en-US" altLang="zh-CN"/>
              <a:t>JSCode </a:t>
            </a:r>
            <a:r>
              <a:rPr lang="zh-CN" altLang="en-US"/>
              <a:t>线程，页面有多个。</a:t>
            </a:r>
            <a:endParaRPr lang="en-US" altLang="zh-CN"/>
          </a:p>
          <a:p>
            <a:r>
              <a:rPr lang="zh-CN" altLang="en-US"/>
              <a:t>小程序切换页面时，小程序的逻辑层依旧运行在同一个</a:t>
            </a:r>
            <a:r>
              <a:rPr lang="en-US" altLang="zh-CN"/>
              <a:t>JsCore</a:t>
            </a:r>
            <a:r>
              <a:rPr lang="zh-CN" altLang="en-US"/>
              <a:t>线程中。</a:t>
            </a:r>
            <a:endParaRPr lang="en-US" altLang="zh-CN"/>
          </a:p>
          <a:p>
            <a:r>
              <a:rPr lang="zh-CN" altLang="en-US"/>
              <a:t>页面使用了</a:t>
            </a:r>
            <a:r>
              <a:rPr lang="en-US" altLang="zh-CN">
                <a:solidFill>
                  <a:srgbClr val="00B0F0"/>
                </a:solidFill>
              </a:rPr>
              <a:t>setTimeout</a:t>
            </a:r>
            <a:r>
              <a:rPr lang="zh-CN" altLang="en-US"/>
              <a:t>或者</a:t>
            </a:r>
            <a:r>
              <a:rPr lang="en-US" altLang="zh-CN">
                <a:solidFill>
                  <a:srgbClr val="00B0F0"/>
                </a:solidFill>
              </a:rPr>
              <a:t>setInterval</a:t>
            </a:r>
            <a:r>
              <a:rPr lang="zh-CN" altLang="en-US"/>
              <a:t>的定时器后，跳转到其他页面时，这些定时器并没有被清除，需要开发者自己在页面离开的时候进行清理。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6913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组件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zh-CN" altLang="en-US"/>
              <a:t>一个小程序的页面是由多个组件组成的。</a:t>
            </a:r>
            <a:endParaRPr lang="en-US" altLang="zh-CN"/>
          </a:p>
          <a:p>
            <a:pPr marL="0" indent="0"/>
            <a:r>
              <a:rPr lang="zh-CN" altLang="en-US"/>
              <a:t>小程序的宿主环境提供了一系列基础组件，如</a:t>
            </a:r>
            <a:r>
              <a:rPr lang="en-US" altLang="zh-CN"/>
              <a:t>view</a:t>
            </a:r>
            <a:r>
              <a:rPr lang="zh-CN" altLang="en-US"/>
              <a:t>、</a:t>
            </a:r>
            <a:r>
              <a:rPr lang="en-US" altLang="zh-CN"/>
              <a:t>text</a:t>
            </a:r>
            <a:r>
              <a:rPr lang="zh-CN" altLang="en-US"/>
              <a:t>。</a:t>
            </a:r>
            <a:endParaRPr lang="en-US" altLang="zh-CN"/>
          </a:p>
          <a:p>
            <a:pPr marL="0" indent="0"/>
            <a:r>
              <a:rPr lang="zh-CN" altLang="en-US"/>
              <a:t>但有的时候，我们还需要自定义组件。</a:t>
            </a:r>
            <a:endParaRPr lang="en-US" altLang="zh-CN"/>
          </a:p>
          <a:p>
            <a:pPr marL="0" indent="0"/>
            <a:r>
              <a:rPr lang="zh-CN" altLang="en-US"/>
              <a:t>自定义组件的名称要小写：</a:t>
            </a:r>
            <a:endParaRPr lang="en-US" altLang="zh-CN"/>
          </a:p>
          <a:p>
            <a:pPr marL="0" indent="0"/>
            <a:r>
              <a:rPr lang="fr-FR" altLang="zh-CN"/>
              <a:t>&lt;kkb-image&gt;&lt;/kkb-image&gt;</a:t>
            </a:r>
          </a:p>
          <a:p>
            <a:endParaRPr lang="fr-FR" altLang="zh-CN"/>
          </a:p>
          <a:p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0759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自定义组件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自定义组件的方法：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在主项目下建立</a:t>
            </a:r>
            <a:r>
              <a:rPr lang="en-US" altLang="zh-CN"/>
              <a:t>components </a:t>
            </a:r>
            <a:r>
              <a:rPr lang="zh-CN" altLang="en-US"/>
              <a:t>文件夹，在其中建立</a:t>
            </a:r>
            <a:r>
              <a:rPr lang="en-US" altLang="zh-CN"/>
              <a:t>floatball </a:t>
            </a:r>
            <a:r>
              <a:rPr lang="zh-CN" altLang="en-US"/>
              <a:t>文件夹，在此文件夹上右击“新建 </a:t>
            </a:r>
            <a:r>
              <a:rPr lang="en-US" altLang="zh-CN"/>
              <a:t>Component</a:t>
            </a:r>
            <a:r>
              <a:rPr lang="zh-CN" altLang="en-US"/>
              <a:t>”，这样就可以建立出</a:t>
            </a:r>
            <a:r>
              <a:rPr lang="en-US" altLang="zh-CN"/>
              <a:t>json</a:t>
            </a:r>
            <a:r>
              <a:rPr lang="zh-CN" altLang="en-US"/>
              <a:t>、</a:t>
            </a:r>
            <a:r>
              <a:rPr lang="en-US" altLang="zh-CN"/>
              <a:t>wxml</a:t>
            </a:r>
            <a:r>
              <a:rPr lang="zh-CN" altLang="en-US"/>
              <a:t>、</a:t>
            </a:r>
            <a:r>
              <a:rPr lang="en-US" altLang="zh-CN"/>
              <a:t>wxss</a:t>
            </a:r>
            <a:r>
              <a:rPr lang="zh-CN" altLang="en-US"/>
              <a:t>、</a:t>
            </a:r>
            <a:r>
              <a:rPr lang="en-US" altLang="zh-CN"/>
              <a:t>js </a:t>
            </a:r>
            <a:r>
              <a:rPr lang="zh-CN" altLang="en-US"/>
              <a:t>四个文件。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组件的</a:t>
            </a:r>
            <a:r>
              <a:rPr lang="en-US" altLang="zh-CN"/>
              <a:t>json</a:t>
            </a:r>
            <a:r>
              <a:rPr lang="zh-CN" altLang="en-US"/>
              <a:t>中设置 </a:t>
            </a:r>
            <a:r>
              <a:rPr lang="en-US" altLang="zh-CN"/>
              <a:t>"component": true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组件的</a:t>
            </a:r>
            <a:r>
              <a:rPr lang="en-US" altLang="zh-CN"/>
              <a:t>wxml</a:t>
            </a:r>
            <a:r>
              <a:rPr lang="zh-CN" altLang="en-US"/>
              <a:t>、</a:t>
            </a:r>
            <a:r>
              <a:rPr lang="en-US" altLang="zh-CN"/>
              <a:t>wxss</a:t>
            </a:r>
            <a:r>
              <a:rPr lang="zh-CN" altLang="en-US"/>
              <a:t>可以正常写。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组件的</a:t>
            </a:r>
            <a:r>
              <a:rPr lang="en-US" altLang="zh-CN"/>
              <a:t>js</a:t>
            </a:r>
            <a:r>
              <a:rPr lang="zh-CN" altLang="en-US"/>
              <a:t>中的</a:t>
            </a:r>
            <a:r>
              <a:rPr lang="en-US" altLang="zh-CN"/>
              <a:t>properties </a:t>
            </a:r>
            <a:r>
              <a:rPr lang="zh-CN" altLang="en-US"/>
              <a:t>可以接受父组件属性。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父组件在调用子组件时要在其</a:t>
            </a:r>
            <a:r>
              <a:rPr lang="en-US" altLang="zh-CN"/>
              <a:t>json </a:t>
            </a:r>
            <a:r>
              <a:rPr lang="zh-CN" altLang="en-US"/>
              <a:t>文件中设置</a:t>
            </a:r>
            <a:r>
              <a:rPr lang="en-US" altLang="zh-CN"/>
              <a:t>usingComponents</a:t>
            </a:r>
            <a:r>
              <a:rPr lang="zh-CN" altLang="en-US"/>
              <a:t>，如：</a:t>
            </a:r>
            <a:endParaRPr lang="en-US" altLang="zh-CN"/>
          </a:p>
          <a:p>
            <a:pPr marL="457200" lvl="1" indent="0">
              <a:buNone/>
            </a:pPr>
            <a:r>
              <a:rPr lang="en-US" altLang="zh-CN"/>
              <a:t>  "usingComponents": {</a:t>
            </a:r>
          </a:p>
          <a:p>
            <a:pPr marL="457200" lvl="1" indent="0">
              <a:buNone/>
            </a:pPr>
            <a:r>
              <a:rPr lang="en-US" altLang="zh-CN"/>
              <a:t>    "floatball":"/components/floatball/floatball"</a:t>
            </a:r>
          </a:p>
          <a:p>
            <a:pPr marL="457200" lvl="1" indent="0">
              <a:buNone/>
            </a:pPr>
            <a:r>
              <a:rPr lang="en-US" altLang="zh-CN"/>
              <a:t>  }</a:t>
            </a:r>
          </a:p>
          <a:p>
            <a:endParaRPr lang="fr-FR" altLang="zh-CN"/>
          </a:p>
          <a:p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8639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父子组件的数据传递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父组件向子组件传递数据：</a:t>
            </a:r>
            <a:r>
              <a:rPr lang="zh-CN" altLang="en-US">
                <a:hlinkClick r:id="rId2"/>
              </a:rPr>
              <a:t>属性</a:t>
            </a:r>
            <a:endParaRPr lang="en-US" altLang="zh-CN"/>
          </a:p>
          <a:p>
            <a:r>
              <a:rPr lang="zh-CN" altLang="en-US"/>
              <a:t>父组件 </a:t>
            </a:r>
            <a:r>
              <a:rPr lang="en-US" altLang="zh-CN"/>
              <a:t>wxml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&lt;floatball </a:t>
            </a:r>
            <a:r>
              <a:rPr lang="en-US" altLang="zh-CN">
                <a:solidFill>
                  <a:srgbClr val="00A5E3"/>
                </a:solidFill>
              </a:rPr>
              <a:t>text</a:t>
            </a:r>
            <a:r>
              <a:rPr lang="en-US" altLang="zh-CN"/>
              <a:t>="</a:t>
            </a:r>
            <a:r>
              <a:rPr lang="zh-CN" altLang="en-US"/>
              <a:t>开课吧</a:t>
            </a:r>
            <a:r>
              <a:rPr lang="en-US" altLang="zh-CN"/>
              <a:t>"&gt;&lt;/floatball&gt;</a:t>
            </a:r>
          </a:p>
          <a:p>
            <a:r>
              <a:rPr lang="zh-CN" altLang="en-US"/>
              <a:t>子组件 </a:t>
            </a:r>
            <a:r>
              <a:rPr lang="en-US" altLang="zh-CN"/>
              <a:t>js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  </a:t>
            </a:r>
            <a:r>
              <a:rPr lang="en-US" altLang="zh-CN">
                <a:solidFill>
                  <a:schemeClr val="accent2"/>
                </a:solidFill>
              </a:rPr>
              <a:t>properties</a:t>
            </a:r>
            <a:r>
              <a:rPr lang="en-US" altLang="zh-CN"/>
              <a:t>: {</a:t>
            </a:r>
          </a:p>
          <a:p>
            <a:r>
              <a:rPr lang="en-US" altLang="zh-CN"/>
              <a:t>    </a:t>
            </a:r>
            <a:r>
              <a:rPr lang="en-US" altLang="zh-CN">
                <a:solidFill>
                  <a:srgbClr val="00A5E3"/>
                </a:solidFill>
              </a:rPr>
              <a:t>text</a:t>
            </a:r>
            <a:r>
              <a:rPr lang="en-US" altLang="zh-CN"/>
              <a:t>:{type:'string',value:'</a:t>
            </a:r>
            <a:r>
              <a:rPr lang="zh-CN" altLang="en-US"/>
              <a:t>悬浮球</a:t>
            </a:r>
            <a:r>
              <a:rPr lang="en-US" altLang="zh-CN"/>
              <a:t>'}</a:t>
            </a:r>
            <a:endParaRPr lang="zh-CN" altLang="en-US"/>
          </a:p>
          <a:p>
            <a:r>
              <a:rPr lang="zh-CN" altLang="en-US"/>
              <a:t>  </a:t>
            </a:r>
            <a:r>
              <a:rPr lang="en-US" altLang="zh-CN"/>
              <a:t>},</a:t>
            </a:r>
            <a:endParaRPr lang="zh-CN" altLang="en-US"/>
          </a:p>
          <a:p>
            <a:endParaRPr lang="en-US" altLang="zh-CN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/>
              <a:t>子组件向父组件传递数据：事件</a:t>
            </a:r>
            <a:endParaRPr lang="en-US" altLang="zh-CN"/>
          </a:p>
          <a:p>
            <a:r>
              <a:rPr lang="zh-CN" altLang="en-US"/>
              <a:t>在父组件调用子组件时，为其绑定事件，如：</a:t>
            </a:r>
            <a:endParaRPr lang="en-US" altLang="zh-CN"/>
          </a:p>
          <a:p>
            <a:r>
              <a:rPr lang="en-US" altLang="zh-CN"/>
              <a:t>	&lt;floatball </a:t>
            </a:r>
            <a:r>
              <a:rPr lang="en-US" altLang="zh-CN">
                <a:solidFill>
                  <a:schemeClr val="accent2"/>
                </a:solidFill>
              </a:rPr>
              <a:t>bind</a:t>
            </a:r>
            <a:r>
              <a:rPr lang="en-US" altLang="zh-CN"/>
              <a:t>:</a:t>
            </a:r>
            <a:r>
              <a:rPr lang="en-US" altLang="zh-CN">
                <a:solidFill>
                  <a:srgbClr val="00A5E3"/>
                </a:solidFill>
              </a:rPr>
              <a:t>tapBall</a:t>
            </a:r>
            <a:r>
              <a:rPr lang="en-US" altLang="zh-CN"/>
              <a:t>=“tapBall"&gt;&lt;/floatball&gt;</a:t>
            </a:r>
          </a:p>
          <a:p>
            <a:r>
              <a:rPr lang="zh-CN" altLang="en-US"/>
              <a:t>建议</a:t>
            </a:r>
            <a:r>
              <a:rPr lang="en-US" altLang="zh-CN"/>
              <a:t>onClickBall </a:t>
            </a:r>
            <a:r>
              <a:rPr lang="zh-CN" altLang="en-US"/>
              <a:t>的属性名和属性值都写成一样，免得把“在父组件中使用属性值，在子组件中触发属性名”记混了。</a:t>
            </a:r>
            <a:endParaRPr lang="en-US" altLang="zh-CN"/>
          </a:p>
          <a:p>
            <a:r>
              <a:rPr lang="zh-CN" altLang="en-US"/>
              <a:t>在子组件中触发事件的方法是  </a:t>
            </a:r>
            <a:r>
              <a:rPr lang="en-US" altLang="zh-CN"/>
              <a:t>triggerEvent(eventName, detail)</a:t>
            </a:r>
            <a:r>
              <a:rPr lang="zh-CN" altLang="en-US"/>
              <a:t>，如</a:t>
            </a:r>
            <a:r>
              <a:rPr lang="en-US" altLang="zh-CN"/>
              <a:t>this.</a:t>
            </a:r>
            <a:r>
              <a:rPr lang="en-US" altLang="zh-CN">
                <a:solidFill>
                  <a:schemeClr val="accent2"/>
                </a:solidFill>
              </a:rPr>
              <a:t>triggerEvent</a:t>
            </a:r>
            <a:r>
              <a:rPr lang="en-US" altLang="zh-CN"/>
              <a:t>('</a:t>
            </a:r>
            <a:r>
              <a:rPr lang="en-US" altLang="zh-CN">
                <a:solidFill>
                  <a:srgbClr val="00A5E3"/>
                </a:solidFill>
              </a:rPr>
              <a:t>tapBall</a:t>
            </a:r>
            <a:r>
              <a:rPr lang="en-US" altLang="zh-CN"/>
              <a:t>',{tap:true})</a:t>
            </a:r>
          </a:p>
          <a:p>
            <a:endParaRPr lang="en-US" altLang="zh-CN"/>
          </a:p>
          <a:p>
            <a:endParaRPr lang="fr-FR" altLang="zh-CN"/>
          </a:p>
          <a:p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7163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api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宿主环境提供了丰富的</a:t>
            </a:r>
            <a:r>
              <a:rPr lang="en-US" altLang="zh-CN">
                <a:hlinkClick r:id="rId2"/>
              </a:rPr>
              <a:t>API</a:t>
            </a:r>
            <a:r>
              <a:rPr lang="zh-CN" altLang="en-US"/>
              <a:t>，可以很方便调用微信提供的能力。</a:t>
            </a:r>
            <a:endParaRPr lang="en-US" altLang="zh-CN"/>
          </a:p>
          <a:p>
            <a:r>
              <a:rPr lang="zh-CN" altLang="en-US"/>
              <a:t>几乎所有小程序的</a:t>
            </a:r>
            <a:r>
              <a:rPr lang="en-US" altLang="zh-CN"/>
              <a:t>API</a:t>
            </a:r>
            <a:r>
              <a:rPr lang="zh-CN" altLang="en-US"/>
              <a:t>都挂载在</a:t>
            </a:r>
            <a:r>
              <a:rPr lang="en-US" altLang="zh-CN">
                <a:solidFill>
                  <a:srgbClr val="00A5E3"/>
                </a:solidFill>
              </a:rPr>
              <a:t>wx</a:t>
            </a:r>
            <a:r>
              <a:rPr lang="zh-CN" altLang="en-US"/>
              <a:t>对象底下（除了</a:t>
            </a:r>
            <a:r>
              <a:rPr lang="en-US" altLang="zh-CN"/>
              <a:t>App/Page</a:t>
            </a:r>
            <a:r>
              <a:rPr lang="zh-CN" altLang="en-US"/>
              <a:t>等特殊的构造器）。</a:t>
            </a:r>
            <a:endParaRPr lang="en-US" altLang="zh-CN"/>
          </a:p>
          <a:p>
            <a:r>
              <a:rPr lang="zh-CN" altLang="en-US"/>
              <a:t>小程序提供的</a:t>
            </a:r>
            <a:r>
              <a:rPr lang="en-US" altLang="zh-CN"/>
              <a:t>API</a:t>
            </a:r>
            <a:r>
              <a:rPr lang="zh-CN" altLang="en-US"/>
              <a:t>按照功能主要分为：网络、媒体、文件、数据缓存、位置、设备、界面、界面节点信息、特殊的开放接口。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2907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API</a:t>
            </a:r>
            <a:r>
              <a:rPr lang="zh-CN" altLang="en-US"/>
              <a:t>的常见规律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531"/>
            <a:ext cx="10515600" cy="541876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009CE0"/>
                </a:solidFill>
              </a:rPr>
              <a:t>wx.on* </a:t>
            </a:r>
            <a:r>
              <a:rPr lang="zh-CN" altLang="en-US"/>
              <a:t>开头的 </a:t>
            </a:r>
            <a:r>
              <a:rPr lang="en-US" altLang="zh-CN"/>
              <a:t>API </a:t>
            </a:r>
            <a:r>
              <a:rPr lang="zh-CN" altLang="en-US"/>
              <a:t>是监听某个事件发生的</a:t>
            </a:r>
            <a:r>
              <a:rPr lang="en-US" altLang="zh-CN"/>
              <a:t>API</a:t>
            </a:r>
            <a:r>
              <a:rPr lang="zh-CN" altLang="en-US"/>
              <a:t>接口，接受一个 </a:t>
            </a:r>
            <a:r>
              <a:rPr lang="en-US" altLang="zh-CN"/>
              <a:t>Callback </a:t>
            </a:r>
            <a:r>
              <a:rPr lang="zh-CN" altLang="en-US"/>
              <a:t>函数作为参数。当该事件触发时，会调用 </a:t>
            </a:r>
            <a:r>
              <a:rPr lang="en-US" altLang="zh-CN"/>
              <a:t>Callback </a:t>
            </a:r>
            <a:r>
              <a:rPr lang="zh-CN" altLang="en-US"/>
              <a:t>函数。如</a:t>
            </a:r>
            <a:r>
              <a:rPr lang="en-US" altLang="zh-CN">
                <a:hlinkClick r:id="rId2"/>
              </a:rPr>
              <a:t>wx.onError()</a:t>
            </a:r>
            <a:endParaRPr lang="en-US" altLang="zh-CN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后缀带</a:t>
            </a:r>
            <a:r>
              <a:rPr lang="en-US" altLang="zh-CN"/>
              <a:t>Sync </a:t>
            </a:r>
            <a:r>
              <a:rPr lang="zh-CN" altLang="en-US"/>
              <a:t>的方法是同步的方法。如</a:t>
            </a:r>
            <a:r>
              <a:rPr lang="en-US" altLang="zh-CN">
                <a:hlinkClick r:id="rId3"/>
              </a:rPr>
              <a:t>wx.getSystemInfoSync()</a:t>
            </a:r>
            <a:endParaRPr lang="en-US" altLang="zh-CN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如未特殊约定，多数 </a:t>
            </a:r>
            <a:r>
              <a:rPr lang="en-US" altLang="zh-CN"/>
              <a:t>API </a:t>
            </a:r>
            <a:r>
              <a:rPr lang="zh-CN" altLang="en-US"/>
              <a:t>接口为</a:t>
            </a:r>
            <a:r>
              <a:rPr lang="zh-CN" altLang="en-US">
                <a:solidFill>
                  <a:srgbClr val="00A5E3"/>
                </a:solidFill>
              </a:rPr>
              <a:t>异步接口 </a:t>
            </a:r>
            <a:r>
              <a:rPr lang="zh-CN" altLang="en-US"/>
              <a:t>，都接受一个</a:t>
            </a:r>
            <a:r>
              <a:rPr lang="en-US" altLang="zh-CN">
                <a:solidFill>
                  <a:srgbClr val="00A5E3"/>
                </a:solidFill>
              </a:rPr>
              <a:t>Object</a:t>
            </a:r>
            <a:r>
              <a:rPr lang="zh-CN" altLang="en-US"/>
              <a:t>作为参数。如</a:t>
            </a:r>
            <a:r>
              <a:rPr lang="en-US" altLang="zh-CN">
                <a:hlinkClick r:id="rId4"/>
              </a:rPr>
              <a:t>wx.getSystemInfo()</a:t>
            </a:r>
            <a:endParaRPr lang="en-US" altLang="zh-CN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/>
              <a:t>API</a:t>
            </a:r>
            <a:r>
              <a:rPr lang="zh-CN" altLang="en-US"/>
              <a:t>的</a:t>
            </a:r>
            <a:r>
              <a:rPr lang="en-US" altLang="zh-CN"/>
              <a:t>Object</a:t>
            </a:r>
            <a:r>
              <a:rPr lang="zh-CN" altLang="en-US"/>
              <a:t>参数一般由</a:t>
            </a:r>
            <a:r>
              <a:rPr lang="en-US" altLang="zh-CN">
                <a:solidFill>
                  <a:srgbClr val="00A5E3"/>
                </a:solidFill>
              </a:rPr>
              <a:t>success</a:t>
            </a:r>
            <a:r>
              <a:rPr lang="zh-CN" altLang="en-US"/>
              <a:t>、</a:t>
            </a:r>
            <a:r>
              <a:rPr lang="en-US" altLang="zh-CN">
                <a:solidFill>
                  <a:srgbClr val="00A5E3"/>
                </a:solidFill>
              </a:rPr>
              <a:t>fail</a:t>
            </a:r>
            <a:r>
              <a:rPr lang="zh-CN" altLang="en-US"/>
              <a:t>、</a:t>
            </a:r>
            <a:r>
              <a:rPr lang="en-US" altLang="zh-CN">
                <a:solidFill>
                  <a:srgbClr val="00A5E3"/>
                </a:solidFill>
              </a:rPr>
              <a:t>complete </a:t>
            </a:r>
            <a:r>
              <a:rPr lang="zh-CN" altLang="en-US"/>
              <a:t>来接收请求结果的。如</a:t>
            </a:r>
            <a:r>
              <a:rPr lang="en-US" altLang="zh-CN">
                <a:hlinkClick r:id="rId5"/>
              </a:rPr>
              <a:t>request </a:t>
            </a:r>
            <a:r>
              <a:rPr lang="zh-CN" altLang="en-US">
                <a:hlinkClick r:id="rId5"/>
              </a:rPr>
              <a:t>接口</a:t>
            </a:r>
            <a:endParaRPr lang="zh-CN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00A5E3"/>
                </a:solidFill>
              </a:rPr>
              <a:t>wx.get* </a:t>
            </a:r>
            <a:r>
              <a:rPr lang="zh-CN" altLang="en-US"/>
              <a:t>开头的</a:t>
            </a:r>
            <a:r>
              <a:rPr lang="en-US" altLang="zh-CN"/>
              <a:t>API</a:t>
            </a:r>
            <a:r>
              <a:rPr lang="zh-CN" altLang="en-US"/>
              <a:t>是</a:t>
            </a:r>
            <a:r>
              <a:rPr lang="zh-CN" altLang="en-US">
                <a:solidFill>
                  <a:srgbClr val="00A5E3"/>
                </a:solidFill>
              </a:rPr>
              <a:t>获取</a:t>
            </a:r>
            <a:r>
              <a:rPr lang="zh-CN" altLang="en-US"/>
              <a:t>宿主环境数据的接口。如</a:t>
            </a:r>
            <a:r>
              <a:rPr lang="en-US" altLang="zh-CN">
                <a:hlinkClick r:id="rId4"/>
              </a:rPr>
              <a:t>wx.getSystemInfo()</a:t>
            </a:r>
            <a:endParaRPr lang="zh-CN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00A5E3"/>
                </a:solidFill>
              </a:rPr>
              <a:t>wx.set* </a:t>
            </a:r>
            <a:r>
              <a:rPr lang="zh-CN" altLang="en-US"/>
              <a:t>开头的</a:t>
            </a:r>
            <a:r>
              <a:rPr lang="en-US" altLang="zh-CN"/>
              <a:t>API</a:t>
            </a:r>
            <a:r>
              <a:rPr lang="zh-CN" altLang="en-US"/>
              <a:t>是</a:t>
            </a:r>
            <a:r>
              <a:rPr lang="zh-CN" altLang="en-US">
                <a:solidFill>
                  <a:srgbClr val="00A5E3"/>
                </a:solidFill>
              </a:rPr>
              <a:t>写入</a:t>
            </a:r>
            <a:r>
              <a:rPr lang="zh-CN" altLang="en-US"/>
              <a:t>数据到宿主环境的接口。如</a:t>
            </a:r>
            <a:r>
              <a:rPr lang="en-US" altLang="zh-CN">
                <a:hlinkClick r:id="rId6"/>
              </a:rPr>
              <a:t>wx.setNavigationBarTitle(Object object)</a:t>
            </a:r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2767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用户在渲染层的行为反馈事件</a:t>
            </a: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BF5E251-9FD4-4721-ADDA-E815098205C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000991"/>
          <a:ext cx="10540499" cy="5029201"/>
        </p:xfrm>
        <a:graphic>
          <a:graphicData uri="http://schemas.openxmlformats.org/drawingml/2006/table">
            <a:tbl>
              <a:tblPr/>
              <a:tblGrid>
                <a:gridCol w="1625099">
                  <a:extLst>
                    <a:ext uri="{9D8B030D-6E8A-4147-A177-3AD203B41FA5}">
                      <a16:colId xmlns:a16="http://schemas.microsoft.com/office/drawing/2014/main" val="459089196"/>
                    </a:ext>
                  </a:extLst>
                </a:gridCol>
                <a:gridCol w="8915400">
                  <a:extLst>
                    <a:ext uri="{9D8B030D-6E8A-4147-A177-3AD203B41FA5}">
                      <a16:colId xmlns:a16="http://schemas.microsoft.com/office/drawing/2014/main" val="845626889"/>
                    </a:ext>
                  </a:extLst>
                </a:gridCol>
              </a:tblGrid>
              <a:tr h="29328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115478" marR="115478" marT="34643" marB="34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触发条件</a:t>
                      </a:r>
                    </a:p>
                  </a:txBody>
                  <a:tcPr marL="115478" marR="115478" marT="34643" marB="34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968197"/>
                  </a:ext>
                </a:extLst>
              </a:tr>
              <a:tr h="373866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touchstart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手指触摸动作开始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966914"/>
                  </a:ext>
                </a:extLst>
              </a:tr>
              <a:tr h="373866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touchmove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手指触摸后移动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300968"/>
                  </a:ext>
                </a:extLst>
              </a:tr>
              <a:tr h="373866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touchcancel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手指触摸动作被打断，如来电提醒，弹窗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313359"/>
                  </a:ext>
                </a:extLst>
              </a:tr>
              <a:tr h="373866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touchend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手指触摸动作结束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45363"/>
                  </a:ext>
                </a:extLst>
              </a:tr>
              <a:tr h="373866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tap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手指触摸后马上离开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31490"/>
                  </a:ext>
                </a:extLst>
              </a:tr>
              <a:tr h="610775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longpress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手指触摸后，超过</a:t>
                      </a:r>
                      <a:r>
                        <a:rPr lang="en-US" altLang="zh-CN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350ms</a:t>
                      </a:r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再离开，如果指定了事件回调函数并触发了这个事件，</a:t>
                      </a:r>
                      <a:r>
                        <a:rPr lang="en-US" altLang="zh-CN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tap</a:t>
                      </a:r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事件将不被触发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000921"/>
                  </a:ext>
                </a:extLst>
              </a:tr>
              <a:tr h="451163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longtap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手指触摸后，超过</a:t>
                      </a:r>
                      <a:r>
                        <a:rPr lang="en-US" altLang="zh-CN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350</a:t>
                      </a:r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</a:t>
                      </a:r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再离开（推荐使用</a:t>
                      </a:r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longpress</a:t>
                      </a:r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事件代替）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402731"/>
                  </a:ext>
                </a:extLst>
              </a:tr>
              <a:tr h="451163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transitionend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会在 </a:t>
                      </a:r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WXSS transition </a:t>
                      </a:r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 </a:t>
                      </a:r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wx.createAnimation </a:t>
                      </a:r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动画结束后触发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351299"/>
                  </a:ext>
                </a:extLst>
              </a:tr>
              <a:tr h="451163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animationstart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会在一个 </a:t>
                      </a:r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WXSS animation </a:t>
                      </a:r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动画开始时触发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899262"/>
                  </a:ext>
                </a:extLst>
              </a:tr>
              <a:tr h="451163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animationiteration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会在一个 </a:t>
                      </a:r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WXSS animation </a:t>
                      </a:r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一次迭代结束时触发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624856"/>
                  </a:ext>
                </a:extLst>
              </a:tr>
              <a:tr h="451163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animationend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会在一个 </a:t>
                      </a:r>
                      <a:r>
                        <a:rPr 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WXSS animation </a:t>
                      </a:r>
                      <a:r>
                        <a:rPr lang="zh-CN" altLang="en-US" sz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动画完成时触发</a:t>
                      </a:r>
                    </a:p>
                  </a:txBody>
                  <a:tcPr marL="115478" marR="115478" marT="69287" marB="692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09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050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0EB842-2B22-437E-89F7-6364BDF82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085" y="1215483"/>
            <a:ext cx="5752026" cy="485280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事件捕捉和事件冒泡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4605867" cy="533380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bind</a:t>
            </a:r>
            <a:r>
              <a:rPr lang="zh-CN" altLang="en-US"/>
              <a:t>前加上</a:t>
            </a:r>
            <a:r>
              <a:rPr lang="en-US" altLang="zh-CN">
                <a:solidFill>
                  <a:srgbClr val="00A5E3"/>
                </a:solidFill>
              </a:rPr>
              <a:t>capture- </a:t>
            </a:r>
            <a:r>
              <a:rPr lang="zh-CN" altLang="en-US"/>
              <a:t>表示事件捕捉，如</a:t>
            </a:r>
            <a:r>
              <a:rPr lang="en-US" altLang="zh-CN">
                <a:solidFill>
                  <a:srgbClr val="00A5E3"/>
                </a:solidFill>
              </a:rPr>
              <a:t>capture-bind:tap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若不加前缀，</a:t>
            </a:r>
            <a:r>
              <a:rPr lang="en-US" altLang="zh-CN"/>
              <a:t>bind</a:t>
            </a:r>
            <a:r>
              <a:rPr lang="en-US" altLang="zh-CN">
                <a:solidFill>
                  <a:srgbClr val="00B0F0"/>
                </a:solidFill>
              </a:rPr>
              <a:t>:</a:t>
            </a:r>
            <a:r>
              <a:rPr lang="en-US" altLang="zh-CN"/>
              <a:t>tap </a:t>
            </a:r>
            <a:r>
              <a:rPr lang="zh-CN" altLang="en-US"/>
              <a:t>和</a:t>
            </a:r>
            <a:r>
              <a:rPr lang="en-US" altLang="zh-CN">
                <a:solidFill>
                  <a:srgbClr val="00B0F0"/>
                </a:solidFill>
              </a:rPr>
              <a:t>bindtap</a:t>
            </a:r>
            <a:r>
              <a:rPr lang="zh-CN" altLang="en-US"/>
              <a:t>是一回事。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rgbClr val="00A5E3"/>
              </a:solidFill>
            </a:endParaRPr>
          </a:p>
          <a:p>
            <a:br>
              <a:rPr lang="zh-CN" altLang="en-US"/>
            </a:b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961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示例：测试事件冒泡和事件捕捉的差异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531"/>
            <a:ext cx="10515600" cy="541876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/>
              <a:t>在</a:t>
            </a:r>
            <a:r>
              <a:rPr lang="en-US" altLang="zh-CN"/>
              <a:t>wxml </a:t>
            </a:r>
            <a:r>
              <a:rPr lang="zh-CN" altLang="en-US"/>
              <a:t>里建立两个容器对象，里面分别包裹着两个子元素。为容器和子元素添加触摸方法：</a:t>
            </a:r>
            <a:endParaRPr lang="en-US" altLang="zh-CN"/>
          </a:p>
          <a:p>
            <a:pPr marL="457200" lvl="1" indent="0">
              <a:buNone/>
            </a:pPr>
            <a:r>
              <a:rPr lang="en-US" altLang="zh-CN"/>
              <a:t>&lt;view </a:t>
            </a:r>
            <a:r>
              <a:rPr lang="en-US" altLang="zh-CN">
                <a:solidFill>
                  <a:schemeClr val="accent2"/>
                </a:solidFill>
              </a:rPr>
              <a:t>bindtap</a:t>
            </a:r>
            <a:r>
              <a:rPr lang="en-US" altLang="zh-CN"/>
              <a:t>=“</a:t>
            </a:r>
            <a:r>
              <a:rPr lang="en-US" altLang="zh-CN">
                <a:solidFill>
                  <a:srgbClr val="00A5E3"/>
                </a:solidFill>
              </a:rPr>
              <a:t>tabWrapper</a:t>
            </a:r>
            <a:r>
              <a:rPr lang="en-US" altLang="zh-CN"/>
              <a:t>"&gt;</a:t>
            </a:r>
          </a:p>
          <a:p>
            <a:pPr marL="457200" lvl="1" indent="0">
              <a:buNone/>
            </a:pPr>
            <a:r>
              <a:rPr lang="en-US" altLang="zh-CN"/>
              <a:t>  &lt;view </a:t>
            </a:r>
            <a:r>
              <a:rPr lang="en-US" altLang="zh-CN">
                <a:solidFill>
                  <a:schemeClr val="accent2"/>
                </a:solidFill>
              </a:rPr>
              <a:t>bindtap</a:t>
            </a:r>
            <a:r>
              <a:rPr lang="en-US" altLang="zh-CN"/>
              <a:t>=“</a:t>
            </a:r>
            <a:r>
              <a:rPr lang="en-US" altLang="zh-CN">
                <a:solidFill>
                  <a:srgbClr val="00A5E3"/>
                </a:solidFill>
              </a:rPr>
              <a:t>tabText</a:t>
            </a:r>
            <a:r>
              <a:rPr lang="en-US" altLang="zh-CN"/>
              <a:t>"&gt;</a:t>
            </a:r>
            <a:r>
              <a:rPr lang="zh-CN" altLang="en-US"/>
              <a:t>事件冒泡</a:t>
            </a:r>
            <a:r>
              <a:rPr lang="en-US" altLang="zh-CN"/>
              <a:t>&lt;/view&gt;</a:t>
            </a:r>
          </a:p>
          <a:p>
            <a:pPr marL="457200" lvl="1" indent="0">
              <a:buNone/>
            </a:pPr>
            <a:r>
              <a:rPr lang="en-US" altLang="zh-CN"/>
              <a:t>&lt;/view&gt;</a:t>
            </a:r>
          </a:p>
          <a:p>
            <a:pPr marL="457200" lvl="1" indent="0">
              <a:buNone/>
            </a:pPr>
            <a:r>
              <a:rPr lang="en-US" altLang="zh-CN"/>
              <a:t>&lt;view </a:t>
            </a:r>
            <a:r>
              <a:rPr lang="en-US" altLang="zh-CN">
                <a:solidFill>
                  <a:schemeClr val="accent2"/>
                </a:solidFill>
              </a:rPr>
              <a:t>capture-bind:tap</a:t>
            </a:r>
            <a:r>
              <a:rPr lang="en-US" altLang="zh-CN"/>
              <a:t>="</a:t>
            </a:r>
            <a:r>
              <a:rPr lang="en-US" altLang="zh-CN">
                <a:solidFill>
                  <a:srgbClr val="00A5E3"/>
                </a:solidFill>
              </a:rPr>
              <a:t>tabWrapper</a:t>
            </a:r>
            <a:r>
              <a:rPr lang="en-US" altLang="zh-CN"/>
              <a:t>"&gt;</a:t>
            </a:r>
          </a:p>
          <a:p>
            <a:pPr marL="457200" lvl="1" indent="0">
              <a:buNone/>
            </a:pPr>
            <a:r>
              <a:rPr lang="en-US" altLang="zh-CN"/>
              <a:t>  &lt;view </a:t>
            </a:r>
            <a:r>
              <a:rPr lang="en-US" altLang="zh-CN">
                <a:solidFill>
                  <a:schemeClr val="accent2"/>
                </a:solidFill>
              </a:rPr>
              <a:t>bindtap</a:t>
            </a:r>
            <a:r>
              <a:rPr lang="en-US" altLang="zh-CN"/>
              <a:t>="</a:t>
            </a:r>
            <a:r>
              <a:rPr lang="en-US" altLang="zh-CN">
                <a:solidFill>
                  <a:srgbClr val="00A5E3"/>
                </a:solidFill>
              </a:rPr>
              <a:t>tabText</a:t>
            </a:r>
            <a:r>
              <a:rPr lang="en-US" altLang="zh-CN"/>
              <a:t>"&gt;</a:t>
            </a:r>
            <a:r>
              <a:rPr lang="zh-CN" altLang="en-US"/>
              <a:t>事件捕捉</a:t>
            </a:r>
            <a:r>
              <a:rPr lang="en-US" altLang="zh-CN"/>
              <a:t>&lt;/view&gt;</a:t>
            </a:r>
          </a:p>
          <a:p>
            <a:pPr marL="457200" lvl="1" indent="0">
              <a:buNone/>
            </a:pPr>
            <a:r>
              <a:rPr lang="en-US" altLang="zh-CN"/>
              <a:t>&lt;/view&gt;</a:t>
            </a:r>
          </a:p>
          <a:p>
            <a:pPr marL="457200" lvl="1" indent="0">
              <a:buNone/>
            </a:pPr>
            <a:endParaRPr lang="en-US" altLang="zh-CN"/>
          </a:p>
          <a:p>
            <a:r>
              <a:rPr lang="en-US" altLang="zh-CN"/>
              <a:t>js </a:t>
            </a:r>
            <a:r>
              <a:rPr lang="zh-CN" altLang="en-US"/>
              <a:t>中的触摸方法：</a:t>
            </a:r>
            <a:endParaRPr lang="en-US" altLang="zh-CN"/>
          </a:p>
          <a:p>
            <a:pPr marL="457200" lvl="1" indent="0">
              <a:buNone/>
            </a:pPr>
            <a:r>
              <a:rPr lang="en-US" altLang="zh-CN"/>
              <a:t>  </a:t>
            </a:r>
            <a:r>
              <a:rPr lang="en-US" altLang="zh-CN">
                <a:solidFill>
                  <a:srgbClr val="00A5E3"/>
                </a:solidFill>
              </a:rPr>
              <a:t>tabWrapper</a:t>
            </a:r>
            <a:r>
              <a:rPr lang="en-US" altLang="zh-CN"/>
              <a:t>(){</a:t>
            </a:r>
          </a:p>
          <a:p>
            <a:pPr marL="457200" lvl="1" indent="0">
              <a:buNone/>
            </a:pPr>
            <a:r>
              <a:rPr lang="en-US" altLang="zh-CN"/>
              <a:t>    console.log('wrapper');</a:t>
            </a:r>
          </a:p>
          <a:p>
            <a:pPr marL="457200" lvl="1" indent="0">
              <a:buNone/>
            </a:pPr>
            <a:r>
              <a:rPr lang="en-US" altLang="zh-CN"/>
              <a:t>  },</a:t>
            </a:r>
          </a:p>
          <a:p>
            <a:pPr marL="457200" lvl="1" indent="0">
              <a:buNone/>
            </a:pPr>
            <a:r>
              <a:rPr lang="en-US" altLang="zh-CN"/>
              <a:t>  </a:t>
            </a:r>
            <a:r>
              <a:rPr lang="en-US" altLang="zh-CN">
                <a:solidFill>
                  <a:srgbClr val="00A5E3"/>
                </a:solidFill>
              </a:rPr>
              <a:t>tabText</a:t>
            </a:r>
            <a:r>
              <a:rPr lang="en-US" altLang="zh-CN"/>
              <a:t>(){</a:t>
            </a:r>
          </a:p>
          <a:p>
            <a:pPr marL="457200" lvl="1" indent="0">
              <a:buNone/>
            </a:pPr>
            <a:r>
              <a:rPr lang="en-US" altLang="zh-CN"/>
              <a:t>    console.log(text');</a:t>
            </a:r>
          </a:p>
          <a:p>
            <a:pPr marL="457200" lvl="1" indent="0">
              <a:buNone/>
            </a:pPr>
            <a:r>
              <a:rPr lang="en-US" altLang="zh-CN"/>
              <a:t>  },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703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 </a:t>
            </a:r>
            <a:r>
              <a:rPr lang="zh-CN" altLang="en-US"/>
              <a:t>总结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我们在本章介绍了</a:t>
            </a:r>
            <a:r>
              <a:rPr lang="zh-CN" altLang="en-US">
                <a:solidFill>
                  <a:srgbClr val="00B0F0"/>
                </a:solidFill>
              </a:rPr>
              <a:t>小程序宿主环境</a:t>
            </a:r>
            <a:r>
              <a:rPr lang="zh-CN" altLang="en-US"/>
              <a:t>的基本运行机制以及它所提供的各种能力，</a:t>
            </a:r>
            <a:endParaRPr lang="en-US" altLang="zh-CN"/>
          </a:p>
          <a:p>
            <a:r>
              <a:rPr lang="zh-CN" altLang="en-US"/>
              <a:t>组合这些能力可以完成一个体验非常流畅的小程序。</a:t>
            </a:r>
            <a:endParaRPr lang="en-US" altLang="zh-CN"/>
          </a:p>
          <a:p>
            <a:r>
              <a:rPr lang="zh-CN" altLang="en-US"/>
              <a:t>下一节课我们会说小程序在各种场景中的实际应用。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6557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 </a:t>
            </a:r>
            <a:r>
              <a:rPr lang="zh-CN" altLang="en-US"/>
              <a:t>写笔记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描述微信小程序从点开到显示的过程，以及</a:t>
            </a:r>
            <a:r>
              <a:rPr lang="en-US" altLang="zh-CN"/>
              <a:t>app</a:t>
            </a:r>
            <a:r>
              <a:rPr lang="zh-CN" altLang="en-US"/>
              <a:t>和页面的生命周期的触发条件，不少于</a:t>
            </a:r>
            <a:r>
              <a:rPr lang="en-US" altLang="zh-CN"/>
              <a:t>500</a:t>
            </a:r>
            <a:r>
              <a:rPr lang="zh-CN" altLang="en-US"/>
              <a:t>字。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5670590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2409632F-CDA7-0048-8FD3-E92D0F7C6AF6}" vid="{23B7EBFA-8CE8-0848-AD14-D6967B57F88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PPT课件模板主题</Template>
  <TotalTime>11271</TotalTime>
  <Words>2169</Words>
  <Application>Microsoft Office PowerPoint</Application>
  <PresentationFormat>宽屏</PresentationFormat>
  <Paragraphs>215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-apple-system-font</vt:lpstr>
      <vt:lpstr>等线</vt:lpstr>
      <vt:lpstr>微软雅黑</vt:lpstr>
      <vt:lpstr>微软雅黑</vt:lpstr>
      <vt:lpstr>Arial</vt:lpstr>
      <vt:lpstr>主题1</vt:lpstr>
      <vt:lpstr>微信小程序宿主环境</vt:lpstr>
      <vt:lpstr>课堂目标</vt:lpstr>
      <vt:lpstr>知识点</vt:lpstr>
      <vt:lpstr>前言</vt:lpstr>
      <vt:lpstr>双线程下的界面渲染原理</vt:lpstr>
      <vt:lpstr>WXML变成虚拟DOM后的样子</vt:lpstr>
      <vt:lpstr>App</vt:lpstr>
      <vt:lpstr>点开微信小程序的一瞬间，微信客户端做了些什么</vt:lpstr>
      <vt:lpstr>小程序的后台状态和前台状态</vt:lpstr>
      <vt:lpstr>文件构成和路径</vt:lpstr>
      <vt:lpstr>页面构造器Page()</vt:lpstr>
      <vt:lpstr>页面的生命周期</vt:lpstr>
      <vt:lpstr>页面的用户行为</vt:lpstr>
      <vt:lpstr>页面数据的注意事项</vt:lpstr>
      <vt:lpstr>页面跳转</vt:lpstr>
      <vt:lpstr>运行js时要留心异步事件</vt:lpstr>
      <vt:lpstr>组件</vt:lpstr>
      <vt:lpstr>自定义组件</vt:lpstr>
      <vt:lpstr>父子组件的数据传递</vt:lpstr>
      <vt:lpstr>api</vt:lpstr>
      <vt:lpstr>API的常见规律</vt:lpstr>
      <vt:lpstr>用户在渲染层的行为反馈事件</vt:lpstr>
      <vt:lpstr>事件捕捉和事件冒泡</vt:lpstr>
      <vt:lpstr>示例：测试事件冒泡和事件捕捉的差异</vt:lpstr>
      <vt:lpstr> 总结</vt:lpstr>
      <vt:lpstr> 写笔记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1051904257@qq.com</cp:lastModifiedBy>
  <cp:revision>549</cp:revision>
  <dcterms:created xsi:type="dcterms:W3CDTF">2019-05-19T07:46:27Z</dcterms:created>
  <dcterms:modified xsi:type="dcterms:W3CDTF">2021-01-30T14:49:11Z</dcterms:modified>
</cp:coreProperties>
</file>